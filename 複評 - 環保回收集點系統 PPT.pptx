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18288000" cy="10287000"/>
  <p:notesSz cx="6858000" cy="9144000"/>
  <p:embeddedFontLst>
    <p:embeddedFont>
      <p:font typeface="Gotham" panose="02020500000000000000" charset="0"/>
      <p:regular r:id="rId31"/>
    </p:embeddedFont>
    <p:embeddedFont>
      <p:font typeface="Gotham Bold" panose="02020500000000000000" charset="0"/>
      <p:regular r:id="rId32"/>
    </p:embeddedFont>
    <p:embeddedFont>
      <p:font typeface="Gotham Heavy" panose="02020500000000000000" charset="0"/>
      <p:regular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Bold" panose="00000800000000000000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 eva" userId="a4c34cb39035f021" providerId="LiveId" clId="{0EDF77EF-C9D5-428E-A25E-69387DD3D342}"/>
    <pc:docChg chg="modSld">
      <pc:chgData name="wei eva" userId="a4c34cb39035f021" providerId="LiveId" clId="{0EDF77EF-C9D5-428E-A25E-69387DD3D342}" dt="2025-10-15T02:58:54.761" v="10" actId="14100"/>
      <pc:docMkLst>
        <pc:docMk/>
      </pc:docMkLst>
      <pc:sldChg chg="modSp mod">
        <pc:chgData name="wei eva" userId="a4c34cb39035f021" providerId="LiveId" clId="{0EDF77EF-C9D5-428E-A25E-69387DD3D342}" dt="2025-10-15T02:58:54.761" v="10" actId="14100"/>
        <pc:sldMkLst>
          <pc:docMk/>
          <pc:sldMk cId="0" sldId="279"/>
        </pc:sldMkLst>
        <pc:spChg chg="mod">
          <ac:chgData name="wei eva" userId="a4c34cb39035f021" providerId="LiveId" clId="{0EDF77EF-C9D5-428E-A25E-69387DD3D342}" dt="2025-10-15T02:58:54.761" v="10" actId="14100"/>
          <ac:spMkLst>
            <pc:docMk/>
            <pc:sldMk cId="0" sldId="279"/>
            <ac:spMk id="10" creationId="{00000000-0000-0000-0000-000000000000}"/>
          </ac:spMkLst>
        </pc:spChg>
        <pc:spChg chg="mod">
          <ac:chgData name="wei eva" userId="a4c34cb39035f021" providerId="LiveId" clId="{0EDF77EF-C9D5-428E-A25E-69387DD3D342}" dt="2025-10-15T02:58:24.740" v="9" actId="20577"/>
          <ac:spMkLst>
            <pc:docMk/>
            <pc:sldMk cId="0" sldId="279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A23AD-F44A-4134-9900-38BB8DDD5E31}" type="datetimeFigureOut">
              <a:rPr lang="zh-TW" altLang="en-US" smtClean="0"/>
              <a:t>2025/10/15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66CD-70FD-4205-B556-0C1AA871B9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324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66CD-70FD-4205-B556-0C1AA871B9B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95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.svg"/><Relationship Id="rId3" Type="http://schemas.openxmlformats.org/officeDocument/2006/relationships/image" Target="../media/image22.svg"/><Relationship Id="rId7" Type="http://schemas.openxmlformats.org/officeDocument/2006/relationships/image" Target="../media/image6.svg"/><Relationship Id="rId12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0.svg"/><Relationship Id="rId10" Type="http://schemas.openxmlformats.org/officeDocument/2006/relationships/image" Target="../media/image11.png"/><Relationship Id="rId4" Type="http://schemas.openxmlformats.org/officeDocument/2006/relationships/image" Target="../media/image19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12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6.sv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29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35.svg"/><Relationship Id="rId2" Type="http://schemas.openxmlformats.org/officeDocument/2006/relationships/image" Target="../media/image28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31.svg"/><Relationship Id="rId15" Type="http://schemas.openxmlformats.org/officeDocument/2006/relationships/image" Target="../media/image33.svg"/><Relationship Id="rId10" Type="http://schemas.openxmlformats.org/officeDocument/2006/relationships/image" Target="../media/image17.png"/><Relationship Id="rId4" Type="http://schemas.openxmlformats.org/officeDocument/2006/relationships/image" Target="../media/image30.png"/><Relationship Id="rId9" Type="http://schemas.openxmlformats.org/officeDocument/2006/relationships/image" Target="../media/image16.sv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12" Type="http://schemas.openxmlformats.org/officeDocument/2006/relationships/image" Target="../media/image3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sv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0.svg"/><Relationship Id="rId7" Type="http://schemas.openxmlformats.org/officeDocument/2006/relationships/image" Target="../media/image4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0.svg"/><Relationship Id="rId7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40.svg"/><Relationship Id="rId7" Type="http://schemas.openxmlformats.org/officeDocument/2006/relationships/image" Target="../media/image5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4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9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56504" y="3205531"/>
            <a:ext cx="4180004" cy="5075060"/>
          </a:xfrm>
          <a:custGeom>
            <a:avLst/>
            <a:gdLst/>
            <a:ahLst/>
            <a:cxnLst/>
            <a:rect l="l" t="t" r="r" b="b"/>
            <a:pathLst>
              <a:path w="4180004" h="5075060">
                <a:moveTo>
                  <a:pt x="0" y="0"/>
                </a:moveTo>
                <a:lnTo>
                  <a:pt x="4180003" y="0"/>
                </a:lnTo>
                <a:lnTo>
                  <a:pt x="4180003" y="5075060"/>
                </a:lnTo>
                <a:lnTo>
                  <a:pt x="0" y="5075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6536507" y="-1028700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-2925875" y="5381373"/>
            <a:ext cx="4158368" cy="4114800"/>
          </a:xfrm>
          <a:custGeom>
            <a:avLst/>
            <a:gdLst/>
            <a:ahLst/>
            <a:cxnLst/>
            <a:rect l="l" t="t" r="r" b="b"/>
            <a:pathLst>
              <a:path w="4158368" h="4114800">
                <a:moveTo>
                  <a:pt x="0" y="0"/>
                </a:moveTo>
                <a:lnTo>
                  <a:pt x="4158369" y="0"/>
                </a:lnTo>
                <a:lnTo>
                  <a:pt x="4158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5242330" y="9496173"/>
            <a:ext cx="4364103" cy="3859521"/>
          </a:xfrm>
          <a:custGeom>
            <a:avLst/>
            <a:gdLst/>
            <a:ahLst/>
            <a:cxnLst/>
            <a:rect l="l" t="t" r="r" b="b"/>
            <a:pathLst>
              <a:path w="4364103" h="3859521">
                <a:moveTo>
                  <a:pt x="0" y="0"/>
                </a:moveTo>
                <a:lnTo>
                  <a:pt x="4364103" y="0"/>
                </a:lnTo>
                <a:lnTo>
                  <a:pt x="4364103" y="3859521"/>
                </a:lnTo>
                <a:lnTo>
                  <a:pt x="0" y="3859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7586242" y="4034284"/>
            <a:ext cx="4182441" cy="4114800"/>
          </a:xfrm>
          <a:custGeom>
            <a:avLst/>
            <a:gdLst/>
            <a:ahLst/>
            <a:cxnLst/>
            <a:rect l="l" t="t" r="r" b="b"/>
            <a:pathLst>
              <a:path w="4182441" h="4114800">
                <a:moveTo>
                  <a:pt x="0" y="0"/>
                </a:moveTo>
                <a:lnTo>
                  <a:pt x="4182440" y="0"/>
                </a:lnTo>
                <a:lnTo>
                  <a:pt x="41824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10815125" y="9337720"/>
            <a:ext cx="4519963" cy="3721110"/>
          </a:xfrm>
          <a:custGeom>
            <a:avLst/>
            <a:gdLst/>
            <a:ahLst/>
            <a:cxnLst/>
            <a:rect l="l" t="t" r="r" b="b"/>
            <a:pathLst>
              <a:path w="4519963" h="3721110">
                <a:moveTo>
                  <a:pt x="0" y="0"/>
                </a:moveTo>
                <a:lnTo>
                  <a:pt x="4519963" y="0"/>
                </a:lnTo>
                <a:lnTo>
                  <a:pt x="4519963" y="3721110"/>
                </a:lnTo>
                <a:lnTo>
                  <a:pt x="0" y="3721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-3588347" y="-789838"/>
            <a:ext cx="4998171" cy="4114800"/>
          </a:xfrm>
          <a:custGeom>
            <a:avLst/>
            <a:gdLst/>
            <a:ahLst/>
            <a:cxnLst/>
            <a:rect l="l" t="t" r="r" b="b"/>
            <a:pathLst>
              <a:path w="4998171" h="4114800">
                <a:moveTo>
                  <a:pt x="0" y="0"/>
                </a:moveTo>
                <a:lnTo>
                  <a:pt x="4998171" y="0"/>
                </a:lnTo>
                <a:lnTo>
                  <a:pt x="4998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6452118" y="-3334307"/>
            <a:ext cx="4398575" cy="4327439"/>
          </a:xfrm>
          <a:custGeom>
            <a:avLst/>
            <a:gdLst/>
            <a:ahLst/>
            <a:cxnLst/>
            <a:rect l="l" t="t" r="r" b="b"/>
            <a:pathLst>
              <a:path w="4398575" h="4327439">
                <a:moveTo>
                  <a:pt x="0" y="0"/>
                </a:moveTo>
                <a:lnTo>
                  <a:pt x="4398575" y="0"/>
                </a:lnTo>
                <a:lnTo>
                  <a:pt x="4398575" y="4327439"/>
                </a:lnTo>
                <a:lnTo>
                  <a:pt x="0" y="4327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1000541" y="-3086100"/>
            <a:ext cx="5097501" cy="4114800"/>
          </a:xfrm>
          <a:custGeom>
            <a:avLst/>
            <a:gdLst/>
            <a:ahLst/>
            <a:cxnLst/>
            <a:rect l="l" t="t" r="r" b="b"/>
            <a:pathLst>
              <a:path w="5097501" h="4114800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2504357" y="-2942973"/>
            <a:ext cx="3255836" cy="4114800"/>
          </a:xfrm>
          <a:custGeom>
            <a:avLst/>
            <a:gdLst/>
            <a:ahLst/>
            <a:cxnLst/>
            <a:rect l="l" t="t" r="r" b="b"/>
            <a:pathLst>
              <a:path w="3255836" h="4114800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335976" y="9496173"/>
            <a:ext cx="4264041" cy="4114800"/>
          </a:xfrm>
          <a:custGeom>
            <a:avLst/>
            <a:gdLst/>
            <a:ahLst/>
            <a:cxnLst/>
            <a:rect l="l" t="t" r="r" b="b"/>
            <a:pathLst>
              <a:path w="4264041" h="4114800">
                <a:moveTo>
                  <a:pt x="0" y="0"/>
                </a:moveTo>
                <a:lnTo>
                  <a:pt x="4264041" y="0"/>
                </a:lnTo>
                <a:lnTo>
                  <a:pt x="4264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5977401" y="8400021"/>
            <a:ext cx="3945537" cy="5596506"/>
          </a:xfrm>
          <a:custGeom>
            <a:avLst/>
            <a:gdLst/>
            <a:ahLst/>
            <a:cxnLst/>
            <a:rect l="l" t="t" r="r" b="b"/>
            <a:pathLst>
              <a:path w="3945537" h="5596506">
                <a:moveTo>
                  <a:pt x="0" y="0"/>
                </a:moveTo>
                <a:lnTo>
                  <a:pt x="3945537" y="0"/>
                </a:lnTo>
                <a:lnTo>
                  <a:pt x="3945537" y="5596507"/>
                </a:lnTo>
                <a:lnTo>
                  <a:pt x="0" y="55965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997196" y="3257759"/>
            <a:ext cx="8573595" cy="117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1" spc="-294" dirty="0" err="1">
                <a:solidFill>
                  <a:srgbClr val="086A35"/>
                </a:solidFill>
                <a:latin typeface="Gotham Heavy"/>
                <a:ea typeface="Gotham Heavy"/>
                <a:cs typeface="Gotham Heavy"/>
                <a:sym typeface="Gotham Heavy"/>
              </a:rPr>
              <a:t>環保回收集點系統</a:t>
            </a:r>
            <a:endParaRPr lang="en-US" sz="8400" b="1" spc="-294" dirty="0">
              <a:solidFill>
                <a:srgbClr val="086A35"/>
              </a:solidFill>
              <a:latin typeface="Gotham Heavy"/>
              <a:ea typeface="Gotham Heavy"/>
              <a:cs typeface="Gotham Heavy"/>
              <a:sym typeface="Gotham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827891" y="4711786"/>
            <a:ext cx="5864603" cy="478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6"/>
              </a:lnSpc>
            </a:pPr>
            <a:r>
              <a:rPr lang="zh-TW" altLang="en-US" sz="6000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組別：</a:t>
            </a:r>
            <a:r>
              <a:rPr lang="en-US" altLang="zh-TW" sz="6000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114204</a:t>
            </a:r>
          </a:p>
          <a:p>
            <a:pPr algn="l">
              <a:lnSpc>
                <a:spcPts val="4676"/>
              </a:lnSpc>
            </a:pPr>
            <a:endParaRPr lang="en-US" sz="6000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4676"/>
              </a:lnSpc>
            </a:pPr>
            <a:r>
              <a:rPr lang="en-US" sz="3682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指導老師：徐國鈞老師</a:t>
            </a:r>
            <a:r>
              <a:rPr lang="en-US" sz="3682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   </a:t>
            </a:r>
          </a:p>
          <a:p>
            <a:pPr algn="l">
              <a:lnSpc>
                <a:spcPts val="4676"/>
              </a:lnSpc>
            </a:pPr>
            <a:endParaRPr lang="en-US" sz="3682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4676"/>
              </a:lnSpc>
            </a:pPr>
            <a:r>
              <a:rPr lang="en-US" sz="3682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組長：11336024 </a:t>
            </a:r>
            <a:r>
              <a:rPr lang="en-US" sz="3682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呂奕葳</a:t>
            </a:r>
            <a:endParaRPr lang="en-US" sz="3682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4676"/>
              </a:lnSpc>
            </a:pPr>
            <a:r>
              <a:rPr lang="en-US" sz="3682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組員：11336019  </a:t>
            </a:r>
            <a:r>
              <a:rPr lang="en-US" sz="3682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謝佳津</a:t>
            </a:r>
            <a:endParaRPr lang="en-US" sz="3682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4676"/>
              </a:lnSpc>
            </a:pPr>
            <a:r>
              <a:rPr lang="en-US" sz="3682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          11336026 </a:t>
            </a:r>
            <a:r>
              <a:rPr lang="en-US" sz="3682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張昭儀</a:t>
            </a:r>
            <a:endParaRPr lang="en-US" sz="3682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0" lvl="0" indent="0" algn="l">
              <a:lnSpc>
                <a:spcPts val="4676"/>
              </a:lnSpc>
            </a:pPr>
            <a:r>
              <a:rPr lang="en-US" sz="3682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          11336027 </a:t>
            </a:r>
            <a:r>
              <a:rPr lang="en-US" sz="3682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楊芯晴</a:t>
            </a:r>
            <a:endParaRPr lang="en-US" sz="3682" dirty="0">
              <a:solidFill>
                <a:srgbClr val="086A35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97196" y="1863128"/>
            <a:ext cx="8573595" cy="129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8"/>
              </a:lnSpc>
            </a:pPr>
            <a:r>
              <a:rPr lang="en-US" sz="9100" b="1" spc="-318" dirty="0">
                <a:solidFill>
                  <a:srgbClr val="086A35"/>
                </a:solidFill>
                <a:latin typeface="Gotham Heavy"/>
                <a:ea typeface="Gotham Heavy"/>
                <a:cs typeface="Gotham Heavy"/>
                <a:sym typeface="Gotham Heavy"/>
              </a:rPr>
              <a:t>GAIA BLOOM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35802">
            <a:off x="13207802" y="3434931"/>
            <a:ext cx="3981834" cy="3417138"/>
          </a:xfrm>
          <a:custGeom>
            <a:avLst/>
            <a:gdLst/>
            <a:ahLst/>
            <a:cxnLst/>
            <a:rect l="l" t="t" r="r" b="b"/>
            <a:pathLst>
              <a:path w="3981834" h="3417138">
                <a:moveTo>
                  <a:pt x="0" y="0"/>
                </a:moveTo>
                <a:lnTo>
                  <a:pt x="3981834" y="0"/>
                </a:lnTo>
                <a:lnTo>
                  <a:pt x="3981834" y="3417138"/>
                </a:lnTo>
                <a:lnTo>
                  <a:pt x="0" y="341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4983372" y="1695818"/>
            <a:ext cx="8321256" cy="7641901"/>
            <a:chOff x="0" y="0"/>
            <a:chExt cx="11095007" cy="10189202"/>
          </a:xfrm>
        </p:grpSpPr>
        <p:sp>
          <p:nvSpPr>
            <p:cNvPr id="4" name="TextBox 4"/>
            <p:cNvSpPr txBox="1"/>
            <p:nvPr/>
          </p:nvSpPr>
          <p:spPr>
            <a:xfrm>
              <a:off x="0" y="-85725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01 專題主題與介紹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34174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02 系統架構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50274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03 功能介紹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366375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04 未來展望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182476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05 初評修正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998576"/>
              <a:ext cx="11095007" cy="1190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24"/>
                </a:lnSpc>
                <a:spcBef>
                  <a:spcPct val="0"/>
                </a:spcBef>
              </a:pPr>
              <a:r>
                <a:rPr lang="en-US" sz="5499" b="1" spc="329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06 系統展示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977401" y="8400021"/>
            <a:ext cx="3945537" cy="5596506"/>
          </a:xfrm>
          <a:custGeom>
            <a:avLst/>
            <a:gdLst/>
            <a:ahLst/>
            <a:cxnLst/>
            <a:rect l="l" t="t" r="r" b="b"/>
            <a:pathLst>
              <a:path w="3945537" h="5596506">
                <a:moveTo>
                  <a:pt x="0" y="0"/>
                </a:moveTo>
                <a:lnTo>
                  <a:pt x="3945537" y="0"/>
                </a:lnTo>
                <a:lnTo>
                  <a:pt x="3945537" y="5596507"/>
                </a:lnTo>
                <a:lnTo>
                  <a:pt x="0" y="55965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-2700774" y="3344548"/>
            <a:ext cx="4158368" cy="4114800"/>
          </a:xfrm>
          <a:custGeom>
            <a:avLst/>
            <a:gdLst/>
            <a:ahLst/>
            <a:cxnLst/>
            <a:rect l="l" t="t" r="r" b="b"/>
            <a:pathLst>
              <a:path w="4158368" h="4114800">
                <a:moveTo>
                  <a:pt x="0" y="0"/>
                </a:moveTo>
                <a:lnTo>
                  <a:pt x="4158368" y="0"/>
                </a:lnTo>
                <a:lnTo>
                  <a:pt x="4158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-304945" y="8869048"/>
            <a:ext cx="4264041" cy="4114800"/>
          </a:xfrm>
          <a:custGeom>
            <a:avLst/>
            <a:gdLst/>
            <a:ahLst/>
            <a:cxnLst/>
            <a:rect l="l" t="t" r="r" b="b"/>
            <a:pathLst>
              <a:path w="4264041" h="4114800">
                <a:moveTo>
                  <a:pt x="0" y="0"/>
                </a:moveTo>
                <a:lnTo>
                  <a:pt x="4264042" y="0"/>
                </a:lnTo>
                <a:lnTo>
                  <a:pt x="4264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0678756" y="9337720"/>
            <a:ext cx="4519963" cy="3721110"/>
          </a:xfrm>
          <a:custGeom>
            <a:avLst/>
            <a:gdLst/>
            <a:ahLst/>
            <a:cxnLst/>
            <a:rect l="l" t="t" r="r" b="b"/>
            <a:pathLst>
              <a:path w="4519963" h="3721110">
                <a:moveTo>
                  <a:pt x="0" y="0"/>
                </a:moveTo>
                <a:lnTo>
                  <a:pt x="4519963" y="0"/>
                </a:lnTo>
                <a:lnTo>
                  <a:pt x="4519963" y="3721110"/>
                </a:lnTo>
                <a:lnTo>
                  <a:pt x="0" y="3721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478790"/>
            <a:ext cx="2556701" cy="146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99"/>
              </a:lnSpc>
            </a:pPr>
            <a:r>
              <a:rPr lang="en-US" sz="9999" b="1" spc="-34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目錄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010" y="3962400"/>
            <a:ext cx="17345980" cy="2193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66"/>
              </a:lnSpc>
            </a:pPr>
            <a:r>
              <a:rPr lang="en-US" sz="142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01 專題主題與介紹</a:t>
            </a:r>
          </a:p>
        </p:txBody>
      </p:sp>
      <p:sp>
        <p:nvSpPr>
          <p:cNvPr id="3" name="Freeform 3"/>
          <p:cNvSpPr/>
          <p:nvPr/>
        </p:nvSpPr>
        <p:spPr>
          <a:xfrm>
            <a:off x="471010" y="7217339"/>
            <a:ext cx="2867700" cy="2831202"/>
          </a:xfrm>
          <a:custGeom>
            <a:avLst/>
            <a:gdLst/>
            <a:ahLst/>
            <a:cxnLst/>
            <a:rect l="l" t="t" r="r" b="b"/>
            <a:pathLst>
              <a:path w="2867700" h="2831202">
                <a:moveTo>
                  <a:pt x="0" y="0"/>
                </a:moveTo>
                <a:lnTo>
                  <a:pt x="2867700" y="0"/>
                </a:lnTo>
                <a:lnTo>
                  <a:pt x="2867700" y="2831202"/>
                </a:lnTo>
                <a:lnTo>
                  <a:pt x="0" y="283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7670960" y="9172575"/>
            <a:ext cx="2920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7793709" y="-3095445"/>
            <a:ext cx="4398575" cy="4327439"/>
          </a:xfrm>
          <a:custGeom>
            <a:avLst/>
            <a:gdLst/>
            <a:ahLst/>
            <a:cxnLst/>
            <a:rect l="l" t="t" r="r" b="b"/>
            <a:pathLst>
              <a:path w="4398575" h="4327439">
                <a:moveTo>
                  <a:pt x="0" y="0"/>
                </a:moveTo>
                <a:lnTo>
                  <a:pt x="4398575" y="0"/>
                </a:lnTo>
                <a:lnTo>
                  <a:pt x="4398575" y="4327439"/>
                </a:lnTo>
                <a:lnTo>
                  <a:pt x="0" y="4327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7259300" y="4387334"/>
            <a:ext cx="4182441" cy="4114800"/>
          </a:xfrm>
          <a:custGeom>
            <a:avLst/>
            <a:gdLst/>
            <a:ahLst/>
            <a:cxnLst/>
            <a:rect l="l" t="t" r="r" b="b"/>
            <a:pathLst>
              <a:path w="4182441" h="4114800">
                <a:moveTo>
                  <a:pt x="0" y="0"/>
                </a:moveTo>
                <a:lnTo>
                  <a:pt x="4182441" y="0"/>
                </a:lnTo>
                <a:lnTo>
                  <a:pt x="4182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-2925875" y="5381373"/>
            <a:ext cx="4158368" cy="4114800"/>
          </a:xfrm>
          <a:custGeom>
            <a:avLst/>
            <a:gdLst/>
            <a:ahLst/>
            <a:cxnLst/>
            <a:rect l="l" t="t" r="r" b="b"/>
            <a:pathLst>
              <a:path w="4158368" h="4114800">
                <a:moveTo>
                  <a:pt x="0" y="0"/>
                </a:moveTo>
                <a:lnTo>
                  <a:pt x="4158369" y="0"/>
                </a:lnTo>
                <a:lnTo>
                  <a:pt x="4158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-3588347" y="-789838"/>
            <a:ext cx="4998171" cy="4114800"/>
          </a:xfrm>
          <a:custGeom>
            <a:avLst/>
            <a:gdLst/>
            <a:ahLst/>
            <a:cxnLst/>
            <a:rect l="l" t="t" r="r" b="b"/>
            <a:pathLst>
              <a:path w="4998171" h="4114800">
                <a:moveTo>
                  <a:pt x="0" y="0"/>
                </a:moveTo>
                <a:lnTo>
                  <a:pt x="4998171" y="0"/>
                </a:lnTo>
                <a:lnTo>
                  <a:pt x="4998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61935" y="1076325"/>
            <a:ext cx="5258598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主題與介紹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02384" y="3141733"/>
            <a:ext cx="8347039" cy="5724975"/>
            <a:chOff x="0" y="0"/>
            <a:chExt cx="11129386" cy="7633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0400" cy="7633300"/>
            </a:xfrm>
            <a:custGeom>
              <a:avLst/>
              <a:gdLst/>
              <a:ahLst/>
              <a:cxnLst/>
              <a:rect l="l" t="t" r="r" b="b"/>
              <a:pathLst>
                <a:path w="10820400" h="7633300">
                  <a:moveTo>
                    <a:pt x="0" y="0"/>
                  </a:moveTo>
                  <a:lnTo>
                    <a:pt x="10820400" y="0"/>
                  </a:lnTo>
                  <a:lnTo>
                    <a:pt x="10820400" y="7633300"/>
                  </a:lnTo>
                  <a:lnTo>
                    <a:pt x="0" y="763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" y="1930657"/>
              <a:ext cx="11116686" cy="3467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47224" lvl="1" indent="-373612" algn="l">
                <a:lnSpc>
                  <a:spcPts val="7302"/>
                </a:lnSpc>
                <a:buFont typeface="Arial"/>
                <a:buChar char="•"/>
              </a:pPr>
              <a:r>
                <a:rPr lang="en-US" sz="3460" b="1" spc="207">
                  <a:solidFill>
                    <a:srgbClr val="3A393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環保意識提升，但回收參與度低</a:t>
              </a:r>
            </a:p>
            <a:p>
              <a:pPr marL="747224" lvl="1" indent="-373612" algn="l">
                <a:lnSpc>
                  <a:spcPts val="7302"/>
                </a:lnSpc>
                <a:buFont typeface="Arial"/>
                <a:buChar char="•"/>
              </a:pPr>
              <a:r>
                <a:rPr lang="en-US" sz="3460" b="1" spc="207">
                  <a:solidFill>
                    <a:srgbClr val="3A393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傳統回收 → 缺乏回饋，缺少動力</a:t>
              </a:r>
            </a:p>
            <a:p>
              <a:pPr marL="747224" lvl="1" indent="-373612" algn="l">
                <a:lnSpc>
                  <a:spcPts val="7302"/>
                </a:lnSpc>
                <a:buFont typeface="Arial"/>
                <a:buChar char="•"/>
              </a:pPr>
              <a:r>
                <a:rPr lang="en-US" sz="3460" b="1" spc="207">
                  <a:solidFill>
                    <a:srgbClr val="3A393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智慧回收機成本高、難以普及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638876" y="4559433"/>
            <a:ext cx="3942701" cy="3942701"/>
          </a:xfrm>
          <a:custGeom>
            <a:avLst/>
            <a:gdLst/>
            <a:ahLst/>
            <a:cxnLst/>
            <a:rect l="l" t="t" r="r" b="b"/>
            <a:pathLst>
              <a:path w="3942701" h="3942701">
                <a:moveTo>
                  <a:pt x="0" y="0"/>
                </a:moveTo>
                <a:lnTo>
                  <a:pt x="3942701" y="0"/>
                </a:lnTo>
                <a:lnTo>
                  <a:pt x="3942701" y="3942701"/>
                </a:lnTo>
                <a:lnTo>
                  <a:pt x="0" y="39427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7586842" y="9172575"/>
            <a:ext cx="46029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63171" y="2926189"/>
            <a:ext cx="4734872" cy="4960342"/>
          </a:xfrm>
          <a:custGeom>
            <a:avLst/>
            <a:gdLst/>
            <a:ahLst/>
            <a:cxnLst/>
            <a:rect l="l" t="t" r="r" b="b"/>
            <a:pathLst>
              <a:path w="4734872" h="4960342">
                <a:moveTo>
                  <a:pt x="0" y="0"/>
                </a:moveTo>
                <a:lnTo>
                  <a:pt x="4734871" y="0"/>
                </a:lnTo>
                <a:lnTo>
                  <a:pt x="4734871" y="4960342"/>
                </a:lnTo>
                <a:lnTo>
                  <a:pt x="0" y="496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2723826" y="1467815"/>
            <a:ext cx="7217709" cy="7351371"/>
            <a:chOff x="0" y="0"/>
            <a:chExt cx="9623612" cy="9801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23612" cy="9801827"/>
            </a:xfrm>
            <a:custGeom>
              <a:avLst/>
              <a:gdLst/>
              <a:ahLst/>
              <a:cxnLst/>
              <a:rect l="l" t="t" r="r" b="b"/>
              <a:pathLst>
                <a:path w="9623612" h="9801827">
                  <a:moveTo>
                    <a:pt x="0" y="0"/>
                  </a:moveTo>
                  <a:lnTo>
                    <a:pt x="9623612" y="0"/>
                  </a:lnTo>
                  <a:lnTo>
                    <a:pt x="9623612" y="9801827"/>
                  </a:lnTo>
                  <a:lnTo>
                    <a:pt x="0" y="980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7629" y="4615164"/>
              <a:ext cx="7154603" cy="3477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34051" lvl="1" indent="-367026" algn="l">
                <a:lnSpc>
                  <a:spcPts val="7071"/>
                </a:lnSpc>
                <a:buFont typeface="Arial"/>
                <a:buChar char="•"/>
              </a:pPr>
              <a:r>
                <a:rPr lang="en-US" sz="3399" b="1" dirty="0" err="1">
                  <a:solidFill>
                    <a:srgbClr val="3B2C2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累積紀錄、換取商品</a:t>
              </a:r>
              <a:endParaRPr lang="en-US" sz="3399" b="1" dirty="0">
                <a:solidFill>
                  <a:srgbClr val="3B2C27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  <a:p>
              <a:pPr marL="734051" lvl="1" indent="-367026" algn="l">
                <a:lnSpc>
                  <a:spcPts val="7071"/>
                </a:lnSpc>
                <a:buFont typeface="Arial"/>
                <a:buChar char="•"/>
              </a:pPr>
              <a:r>
                <a:rPr lang="en-US" sz="3399" b="1" dirty="0" err="1">
                  <a:solidFill>
                    <a:srgbClr val="3B2C2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增加參與感，養成習慣</a:t>
              </a:r>
              <a:endParaRPr lang="en-US" sz="3399" b="1" dirty="0">
                <a:solidFill>
                  <a:srgbClr val="3B2C27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  <a:p>
              <a:pPr marL="734051" lvl="1" indent="-367026" algn="l">
                <a:lnSpc>
                  <a:spcPts val="7071"/>
                </a:lnSpc>
                <a:buFont typeface="Arial"/>
                <a:buChar char="•"/>
              </a:pPr>
              <a:r>
                <a:rPr lang="en-US" sz="3399" b="1" dirty="0" err="1">
                  <a:solidFill>
                    <a:srgbClr val="3B2C2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獲得成就感</a:t>
              </a:r>
              <a:endParaRPr lang="en-US" sz="3399" b="1" dirty="0">
                <a:solidFill>
                  <a:srgbClr val="3B2C27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7629" y="2129685"/>
              <a:ext cx="6735234" cy="21667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63" lvl="1" indent="-367031" algn="l">
                <a:lnSpc>
                  <a:spcPts val="7072"/>
                </a:lnSpc>
                <a:buFont typeface="Arial"/>
                <a:buChar char="•"/>
              </a:pPr>
              <a:r>
                <a:rPr lang="en-US" sz="3400" b="1" spc="204">
                  <a:solidFill>
                    <a:srgbClr val="3A3937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跳脫硬體，打造人人可用的平台。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000541" y="-3086100"/>
            <a:ext cx="5097501" cy="4114800"/>
          </a:xfrm>
          <a:custGeom>
            <a:avLst/>
            <a:gdLst/>
            <a:ahLst/>
            <a:cxnLst/>
            <a:rect l="l" t="t" r="r" b="b"/>
            <a:pathLst>
              <a:path w="5097501" h="4114800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-1081697" y="-2367110"/>
            <a:ext cx="3255836" cy="4114800"/>
          </a:xfrm>
          <a:custGeom>
            <a:avLst/>
            <a:gdLst/>
            <a:ahLst/>
            <a:cxnLst/>
            <a:rect l="l" t="t" r="r" b="b"/>
            <a:pathLst>
              <a:path w="3255836" h="4114800">
                <a:moveTo>
                  <a:pt x="0" y="0"/>
                </a:moveTo>
                <a:lnTo>
                  <a:pt x="3255836" y="0"/>
                </a:lnTo>
                <a:lnTo>
                  <a:pt x="32558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-1286910" y="8501501"/>
            <a:ext cx="4264041" cy="4114800"/>
          </a:xfrm>
          <a:custGeom>
            <a:avLst/>
            <a:gdLst/>
            <a:ahLst/>
            <a:cxnLst/>
            <a:rect l="l" t="t" r="r" b="b"/>
            <a:pathLst>
              <a:path w="4264041" h="4114800">
                <a:moveTo>
                  <a:pt x="0" y="0"/>
                </a:moveTo>
                <a:lnTo>
                  <a:pt x="4264042" y="0"/>
                </a:lnTo>
                <a:lnTo>
                  <a:pt x="4264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4681583" y="8755319"/>
            <a:ext cx="3945537" cy="5596506"/>
          </a:xfrm>
          <a:custGeom>
            <a:avLst/>
            <a:gdLst/>
            <a:ahLst/>
            <a:cxnLst/>
            <a:rect l="l" t="t" r="r" b="b"/>
            <a:pathLst>
              <a:path w="3945537" h="5596506">
                <a:moveTo>
                  <a:pt x="0" y="0"/>
                </a:moveTo>
                <a:lnTo>
                  <a:pt x="3945537" y="0"/>
                </a:lnTo>
                <a:lnTo>
                  <a:pt x="3945537" y="5596507"/>
                </a:lnTo>
                <a:lnTo>
                  <a:pt x="0" y="55965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-4551280" y="0"/>
            <a:ext cx="5097501" cy="4114800"/>
          </a:xfrm>
          <a:custGeom>
            <a:avLst/>
            <a:gdLst/>
            <a:ahLst/>
            <a:cxnLst/>
            <a:rect l="l" t="t" r="r" b="b"/>
            <a:pathLst>
              <a:path w="5097501" h="4114800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15336684" y="-2057400"/>
            <a:ext cx="4264041" cy="4114800"/>
          </a:xfrm>
          <a:custGeom>
            <a:avLst/>
            <a:gdLst/>
            <a:ahLst/>
            <a:cxnLst/>
            <a:rect l="l" t="t" r="r" b="b"/>
            <a:pathLst>
              <a:path w="4264041" h="4114800">
                <a:moveTo>
                  <a:pt x="0" y="0"/>
                </a:moveTo>
                <a:lnTo>
                  <a:pt x="4264041" y="0"/>
                </a:lnTo>
                <a:lnTo>
                  <a:pt x="4264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349214" y="9496173"/>
            <a:ext cx="3255836" cy="4114800"/>
          </a:xfrm>
          <a:custGeom>
            <a:avLst/>
            <a:gdLst/>
            <a:ahLst/>
            <a:cxnLst/>
            <a:rect l="l" t="t" r="r" b="b"/>
            <a:pathLst>
              <a:path w="3255836" h="4114800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7581901" y="9172575"/>
            <a:ext cx="47017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7376" y="3684882"/>
            <a:ext cx="1127324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0"/>
              </a:lnSpc>
            </a:pPr>
            <a:r>
              <a:rPr lang="en-US" sz="15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02 系統架構</a:t>
            </a:r>
          </a:p>
        </p:txBody>
      </p:sp>
      <p:sp>
        <p:nvSpPr>
          <p:cNvPr id="3" name="Freeform 3"/>
          <p:cNvSpPr/>
          <p:nvPr/>
        </p:nvSpPr>
        <p:spPr>
          <a:xfrm>
            <a:off x="582843" y="6811948"/>
            <a:ext cx="2186124" cy="3475052"/>
          </a:xfrm>
          <a:custGeom>
            <a:avLst/>
            <a:gdLst/>
            <a:ahLst/>
            <a:cxnLst/>
            <a:rect l="l" t="t" r="r" b="b"/>
            <a:pathLst>
              <a:path w="2186124" h="3475052">
                <a:moveTo>
                  <a:pt x="0" y="0"/>
                </a:moveTo>
                <a:lnTo>
                  <a:pt x="2186124" y="0"/>
                </a:lnTo>
                <a:lnTo>
                  <a:pt x="2186124" y="3475052"/>
                </a:lnTo>
                <a:lnTo>
                  <a:pt x="0" y="3475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7561661" y="9172575"/>
            <a:ext cx="51065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60151" y="9199309"/>
            <a:ext cx="4591619" cy="3780101"/>
          </a:xfrm>
          <a:custGeom>
            <a:avLst/>
            <a:gdLst/>
            <a:ahLst/>
            <a:cxnLst/>
            <a:rect l="l" t="t" r="r" b="b"/>
            <a:pathLst>
              <a:path w="4591619" h="3780101">
                <a:moveTo>
                  <a:pt x="0" y="0"/>
                </a:moveTo>
                <a:lnTo>
                  <a:pt x="4591618" y="0"/>
                </a:lnTo>
                <a:lnTo>
                  <a:pt x="4591618" y="3780101"/>
                </a:lnTo>
                <a:lnTo>
                  <a:pt x="0" y="3780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7793709" y="-3095445"/>
            <a:ext cx="4398575" cy="4327439"/>
          </a:xfrm>
          <a:custGeom>
            <a:avLst/>
            <a:gdLst/>
            <a:ahLst/>
            <a:cxnLst/>
            <a:rect l="l" t="t" r="r" b="b"/>
            <a:pathLst>
              <a:path w="4398575" h="4327439">
                <a:moveTo>
                  <a:pt x="0" y="0"/>
                </a:moveTo>
                <a:lnTo>
                  <a:pt x="4398575" y="0"/>
                </a:lnTo>
                <a:lnTo>
                  <a:pt x="4398575" y="4327439"/>
                </a:lnTo>
                <a:lnTo>
                  <a:pt x="0" y="4327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17496493" y="6452670"/>
            <a:ext cx="4182441" cy="4114800"/>
          </a:xfrm>
          <a:custGeom>
            <a:avLst/>
            <a:gdLst/>
            <a:ahLst/>
            <a:cxnLst/>
            <a:rect l="l" t="t" r="r" b="b"/>
            <a:pathLst>
              <a:path w="4182441" h="4114800">
                <a:moveTo>
                  <a:pt x="0" y="0"/>
                </a:moveTo>
                <a:lnTo>
                  <a:pt x="4182441" y="0"/>
                </a:lnTo>
                <a:lnTo>
                  <a:pt x="4182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-2925875" y="5381373"/>
            <a:ext cx="4158368" cy="4114800"/>
          </a:xfrm>
          <a:custGeom>
            <a:avLst/>
            <a:gdLst/>
            <a:ahLst/>
            <a:cxnLst/>
            <a:rect l="l" t="t" r="r" b="b"/>
            <a:pathLst>
              <a:path w="4158368" h="4114800">
                <a:moveTo>
                  <a:pt x="0" y="0"/>
                </a:moveTo>
                <a:lnTo>
                  <a:pt x="4158369" y="0"/>
                </a:lnTo>
                <a:lnTo>
                  <a:pt x="4158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-3588347" y="-789838"/>
            <a:ext cx="4998171" cy="4114800"/>
          </a:xfrm>
          <a:custGeom>
            <a:avLst/>
            <a:gdLst/>
            <a:ahLst/>
            <a:cxnLst/>
            <a:rect l="l" t="t" r="r" b="b"/>
            <a:pathLst>
              <a:path w="4998171" h="4114800">
                <a:moveTo>
                  <a:pt x="0" y="0"/>
                </a:moveTo>
                <a:lnTo>
                  <a:pt x="4998171" y="0"/>
                </a:lnTo>
                <a:lnTo>
                  <a:pt x="4998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2756430" y="9199309"/>
            <a:ext cx="4364103" cy="3859521"/>
          </a:xfrm>
          <a:custGeom>
            <a:avLst/>
            <a:gdLst/>
            <a:ahLst/>
            <a:cxnLst/>
            <a:rect l="l" t="t" r="r" b="b"/>
            <a:pathLst>
              <a:path w="4364103" h="3859521">
                <a:moveTo>
                  <a:pt x="0" y="0"/>
                </a:moveTo>
                <a:lnTo>
                  <a:pt x="4364103" y="0"/>
                </a:lnTo>
                <a:lnTo>
                  <a:pt x="4364103" y="3859521"/>
                </a:lnTo>
                <a:lnTo>
                  <a:pt x="0" y="3859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634905" y="1935109"/>
            <a:ext cx="15101285" cy="6965468"/>
          </a:xfrm>
          <a:custGeom>
            <a:avLst/>
            <a:gdLst/>
            <a:ahLst/>
            <a:cxnLst/>
            <a:rect l="l" t="t" r="r" b="b"/>
            <a:pathLst>
              <a:path w="15101285" h="6965468">
                <a:moveTo>
                  <a:pt x="0" y="0"/>
                </a:moveTo>
                <a:lnTo>
                  <a:pt x="15101285" y="0"/>
                </a:lnTo>
                <a:lnTo>
                  <a:pt x="15101285" y="6965468"/>
                </a:lnTo>
                <a:lnTo>
                  <a:pt x="0" y="69654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861935" y="560323"/>
            <a:ext cx="3778469" cy="9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684"/>
              </a:lnSpc>
            </a:pPr>
            <a:r>
              <a:rPr lang="en-US" sz="6800" b="1" spc="-238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系統架構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82258" y="9172575"/>
            <a:ext cx="46946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7376" y="3684882"/>
            <a:ext cx="1127324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0"/>
              </a:lnSpc>
            </a:pPr>
            <a:r>
              <a:rPr lang="en-US" sz="15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03 功能介紹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7229261"/>
            <a:ext cx="2518465" cy="3057739"/>
          </a:xfrm>
          <a:custGeom>
            <a:avLst/>
            <a:gdLst/>
            <a:ahLst/>
            <a:cxnLst/>
            <a:rect l="l" t="t" r="r" b="b"/>
            <a:pathLst>
              <a:path w="2518465" h="3057739">
                <a:moveTo>
                  <a:pt x="0" y="0"/>
                </a:moveTo>
                <a:lnTo>
                  <a:pt x="2518465" y="0"/>
                </a:lnTo>
                <a:lnTo>
                  <a:pt x="2518465" y="3057739"/>
                </a:lnTo>
                <a:lnTo>
                  <a:pt x="0" y="3057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7570055" y="9172575"/>
            <a:ext cx="49387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70525"/>
            <a:ext cx="4385147" cy="4150796"/>
            <a:chOff x="0" y="0"/>
            <a:chExt cx="5846862" cy="55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5534395"/>
            </a:xfrm>
            <a:custGeom>
              <a:avLst/>
              <a:gdLst/>
              <a:ahLst/>
              <a:cxnLst/>
              <a:rect l="l" t="t" r="r" b="b"/>
              <a:pathLst>
                <a:path w="5846862" h="5534395">
                  <a:moveTo>
                    <a:pt x="0" y="0"/>
                  </a:moveTo>
                  <a:lnTo>
                    <a:pt x="5846862" y="0"/>
                  </a:lnTo>
                  <a:lnTo>
                    <a:pt x="5846862" y="5534395"/>
                  </a:lnTo>
                  <a:lnTo>
                    <a:pt x="0" y="553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088" r="-1708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自行設定環保目標，設定完，下方即顯示總體目標概覽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760555" y="2159999"/>
            <a:ext cx="12126693" cy="7700450"/>
          </a:xfrm>
          <a:custGeom>
            <a:avLst/>
            <a:gdLst/>
            <a:ahLst/>
            <a:cxnLst/>
            <a:rect l="l" t="t" r="r" b="b"/>
            <a:pathLst>
              <a:path w="12126693" h="7700450">
                <a:moveTo>
                  <a:pt x="0" y="0"/>
                </a:moveTo>
                <a:lnTo>
                  <a:pt x="12126693" y="0"/>
                </a:lnTo>
                <a:lnTo>
                  <a:pt x="12126693" y="7700450"/>
                </a:lnTo>
                <a:lnTo>
                  <a:pt x="0" y="770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4812058" y="8385707"/>
            <a:ext cx="1203577" cy="872593"/>
          </a:xfrm>
          <a:custGeom>
            <a:avLst/>
            <a:gdLst/>
            <a:ahLst/>
            <a:cxnLst/>
            <a:rect l="l" t="t" r="r" b="b"/>
            <a:pathLst>
              <a:path w="1203577" h="872593">
                <a:moveTo>
                  <a:pt x="0" y="0"/>
                </a:moveTo>
                <a:lnTo>
                  <a:pt x="1203577" y="0"/>
                </a:lnTo>
                <a:lnTo>
                  <a:pt x="1203577" y="872593"/>
                </a:lnTo>
                <a:lnTo>
                  <a:pt x="0" y="872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設定環保目標</a:t>
            </a:r>
          </a:p>
        </p:txBody>
      </p:sp>
      <p:sp>
        <p:nvSpPr>
          <p:cNvPr id="8" name="Freeform 8"/>
          <p:cNvSpPr/>
          <p:nvPr/>
        </p:nvSpPr>
        <p:spPr>
          <a:xfrm>
            <a:off x="5413847" y="2712256"/>
            <a:ext cx="4739854" cy="2533668"/>
          </a:xfrm>
          <a:custGeom>
            <a:avLst/>
            <a:gdLst/>
            <a:ahLst/>
            <a:cxnLst/>
            <a:rect l="l" t="t" r="r" b="b"/>
            <a:pathLst>
              <a:path w="4739854" h="2533668">
                <a:moveTo>
                  <a:pt x="0" y="0"/>
                </a:moveTo>
                <a:lnTo>
                  <a:pt x="4739854" y="0"/>
                </a:lnTo>
                <a:lnTo>
                  <a:pt x="4739854" y="2533667"/>
                </a:lnTo>
                <a:lnTo>
                  <a:pt x="0" y="253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0550668" y="7010425"/>
            <a:ext cx="1569848" cy="839155"/>
          </a:xfrm>
          <a:custGeom>
            <a:avLst/>
            <a:gdLst/>
            <a:ahLst/>
            <a:cxnLst/>
            <a:rect l="l" t="t" r="r" b="b"/>
            <a:pathLst>
              <a:path w="1569848" h="839155">
                <a:moveTo>
                  <a:pt x="0" y="0"/>
                </a:moveTo>
                <a:lnTo>
                  <a:pt x="1569848" y="0"/>
                </a:lnTo>
                <a:lnTo>
                  <a:pt x="1569848" y="839156"/>
                </a:lnTo>
                <a:lnTo>
                  <a:pt x="0" y="839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7587854" y="9172575"/>
            <a:ext cx="4582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28719" y="1964536"/>
            <a:ext cx="12747035" cy="8174036"/>
          </a:xfrm>
          <a:custGeom>
            <a:avLst/>
            <a:gdLst/>
            <a:ahLst/>
            <a:cxnLst/>
            <a:rect l="l" t="t" r="r" b="b"/>
            <a:pathLst>
              <a:path w="12747035" h="8174036">
                <a:moveTo>
                  <a:pt x="0" y="0"/>
                </a:moveTo>
                <a:lnTo>
                  <a:pt x="12747035" y="0"/>
                </a:lnTo>
                <a:lnTo>
                  <a:pt x="12747035" y="8174036"/>
                </a:lnTo>
                <a:lnTo>
                  <a:pt x="0" y="817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2373907" y="2757179"/>
            <a:ext cx="4739854" cy="2533668"/>
          </a:xfrm>
          <a:custGeom>
            <a:avLst/>
            <a:gdLst/>
            <a:ahLst/>
            <a:cxnLst/>
            <a:rect l="l" t="t" r="r" b="b"/>
            <a:pathLst>
              <a:path w="4739854" h="2533668">
                <a:moveTo>
                  <a:pt x="0" y="0"/>
                </a:moveTo>
                <a:lnTo>
                  <a:pt x="4739855" y="0"/>
                </a:lnTo>
                <a:lnTo>
                  <a:pt x="4739855" y="2533667"/>
                </a:lnTo>
                <a:lnTo>
                  <a:pt x="0" y="2533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9236357" y="7199748"/>
            <a:ext cx="1427635" cy="763136"/>
          </a:xfrm>
          <a:custGeom>
            <a:avLst/>
            <a:gdLst/>
            <a:ahLst/>
            <a:cxnLst/>
            <a:rect l="l" t="t" r="r" b="b"/>
            <a:pathLst>
              <a:path w="1427635" h="763136">
                <a:moveTo>
                  <a:pt x="0" y="0"/>
                </a:moveTo>
                <a:lnTo>
                  <a:pt x="1427634" y="0"/>
                </a:lnTo>
                <a:lnTo>
                  <a:pt x="1427634" y="763135"/>
                </a:lnTo>
                <a:lnTo>
                  <a:pt x="0" y="76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重設環保目標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76008" y="9172575"/>
            <a:ext cx="48196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70525"/>
            <a:ext cx="4385147" cy="4150796"/>
            <a:chOff x="0" y="0"/>
            <a:chExt cx="5846862" cy="55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5534395"/>
            </a:xfrm>
            <a:custGeom>
              <a:avLst/>
              <a:gdLst/>
              <a:ahLst/>
              <a:cxnLst/>
              <a:rect l="l" t="t" r="r" b="b"/>
              <a:pathLst>
                <a:path w="5846862" h="5534395">
                  <a:moveTo>
                    <a:pt x="0" y="0"/>
                  </a:moveTo>
                  <a:lnTo>
                    <a:pt x="5846862" y="0"/>
                  </a:lnTo>
                  <a:lnTo>
                    <a:pt x="5846862" y="5534395"/>
                  </a:lnTo>
                  <a:lnTo>
                    <a:pt x="0" y="553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088" r="-1708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點擊上方「商品兌換」即顯示各項商品及點數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829324" y="1028700"/>
            <a:ext cx="10953952" cy="8845317"/>
          </a:xfrm>
          <a:custGeom>
            <a:avLst/>
            <a:gdLst/>
            <a:ahLst/>
            <a:cxnLst/>
            <a:rect l="l" t="t" r="r" b="b"/>
            <a:pathLst>
              <a:path w="10953952" h="8845317">
                <a:moveTo>
                  <a:pt x="0" y="0"/>
                </a:moveTo>
                <a:lnTo>
                  <a:pt x="10953953" y="0"/>
                </a:lnTo>
                <a:lnTo>
                  <a:pt x="10953953" y="8845317"/>
                </a:lnTo>
                <a:lnTo>
                  <a:pt x="0" y="884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兌換商城</a:t>
            </a:r>
          </a:p>
        </p:txBody>
      </p:sp>
      <p:sp>
        <p:nvSpPr>
          <p:cNvPr id="7" name="Freeform 7"/>
          <p:cNvSpPr/>
          <p:nvPr/>
        </p:nvSpPr>
        <p:spPr>
          <a:xfrm>
            <a:off x="7236040" y="1782724"/>
            <a:ext cx="1569848" cy="839155"/>
          </a:xfrm>
          <a:custGeom>
            <a:avLst/>
            <a:gdLst/>
            <a:ahLst/>
            <a:cxnLst/>
            <a:rect l="l" t="t" r="r" b="b"/>
            <a:pathLst>
              <a:path w="1569848" h="839155">
                <a:moveTo>
                  <a:pt x="0" y="0"/>
                </a:moveTo>
                <a:lnTo>
                  <a:pt x="1569848" y="0"/>
                </a:lnTo>
                <a:lnTo>
                  <a:pt x="1569848" y="839155"/>
                </a:lnTo>
                <a:lnTo>
                  <a:pt x="0" y="83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 rot="788720">
            <a:off x="4801671" y="1557610"/>
            <a:ext cx="2221436" cy="2128539"/>
          </a:xfrm>
          <a:custGeom>
            <a:avLst/>
            <a:gdLst/>
            <a:ahLst/>
            <a:cxnLst/>
            <a:rect l="l" t="t" r="r" b="b"/>
            <a:pathLst>
              <a:path w="2221436" h="2128539">
                <a:moveTo>
                  <a:pt x="0" y="0"/>
                </a:moveTo>
                <a:lnTo>
                  <a:pt x="2221436" y="0"/>
                </a:lnTo>
                <a:lnTo>
                  <a:pt x="2221436" y="2128539"/>
                </a:lnTo>
                <a:lnTo>
                  <a:pt x="0" y="2128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7570055" y="9172575"/>
            <a:ext cx="49387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2955" y="3068102"/>
            <a:ext cx="4385147" cy="4150796"/>
            <a:chOff x="0" y="0"/>
            <a:chExt cx="5846862" cy="55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5534395"/>
            </a:xfrm>
            <a:custGeom>
              <a:avLst/>
              <a:gdLst/>
              <a:ahLst/>
              <a:cxnLst/>
              <a:rect l="l" t="t" r="r" b="b"/>
              <a:pathLst>
                <a:path w="5846862" h="5534395">
                  <a:moveTo>
                    <a:pt x="0" y="0"/>
                  </a:moveTo>
                  <a:lnTo>
                    <a:pt x="5846862" y="0"/>
                  </a:lnTo>
                  <a:lnTo>
                    <a:pt x="5846862" y="5534395"/>
                  </a:lnTo>
                  <a:lnTo>
                    <a:pt x="0" y="553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088" r="-1708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點擊上方「回收統計」，即可在下方查看本月回收統計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939472" y="150869"/>
            <a:ext cx="8524917" cy="9985261"/>
          </a:xfrm>
          <a:custGeom>
            <a:avLst/>
            <a:gdLst/>
            <a:ahLst/>
            <a:cxnLst/>
            <a:rect l="l" t="t" r="r" b="b"/>
            <a:pathLst>
              <a:path w="8524917" h="9985261">
                <a:moveTo>
                  <a:pt x="0" y="0"/>
                </a:moveTo>
                <a:lnTo>
                  <a:pt x="8524917" y="0"/>
                </a:lnTo>
                <a:lnTo>
                  <a:pt x="8524917" y="9985262"/>
                </a:lnTo>
                <a:lnTo>
                  <a:pt x="0" y="9985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9144000" y="568604"/>
            <a:ext cx="1569848" cy="839155"/>
          </a:xfrm>
          <a:custGeom>
            <a:avLst/>
            <a:gdLst/>
            <a:ahLst/>
            <a:cxnLst/>
            <a:rect l="l" t="t" r="r" b="b"/>
            <a:pathLst>
              <a:path w="1569848" h="839155">
                <a:moveTo>
                  <a:pt x="0" y="0"/>
                </a:moveTo>
                <a:lnTo>
                  <a:pt x="1569848" y="0"/>
                </a:lnTo>
                <a:lnTo>
                  <a:pt x="1569848" y="839155"/>
                </a:lnTo>
                <a:lnTo>
                  <a:pt x="0" y="83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8289303" y="617220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兌換商城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14220" y="9172575"/>
            <a:ext cx="1419429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8782" y="3068102"/>
            <a:ext cx="4385147" cy="4150796"/>
            <a:chOff x="0" y="0"/>
            <a:chExt cx="5846862" cy="55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5534395"/>
            </a:xfrm>
            <a:custGeom>
              <a:avLst/>
              <a:gdLst/>
              <a:ahLst/>
              <a:cxnLst/>
              <a:rect l="l" t="t" r="r" b="b"/>
              <a:pathLst>
                <a:path w="5846862" h="5534395">
                  <a:moveTo>
                    <a:pt x="0" y="0"/>
                  </a:moveTo>
                  <a:lnTo>
                    <a:pt x="5846862" y="0"/>
                  </a:lnTo>
                  <a:lnTo>
                    <a:pt x="5846862" y="5534395"/>
                  </a:lnTo>
                  <a:lnTo>
                    <a:pt x="0" y="553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088" r="-1708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點擊上方「排行榜」，即可在下方查看本月環保英雄榜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400871" y="378868"/>
            <a:ext cx="7227578" cy="9734111"/>
          </a:xfrm>
          <a:custGeom>
            <a:avLst/>
            <a:gdLst/>
            <a:ahLst/>
            <a:cxnLst/>
            <a:rect l="l" t="t" r="r" b="b"/>
            <a:pathLst>
              <a:path w="7227578" h="9734111">
                <a:moveTo>
                  <a:pt x="0" y="0"/>
                </a:moveTo>
                <a:lnTo>
                  <a:pt x="7227578" y="0"/>
                </a:lnTo>
                <a:lnTo>
                  <a:pt x="7227578" y="9734111"/>
                </a:lnTo>
                <a:lnTo>
                  <a:pt x="0" y="9734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0054730" y="828965"/>
            <a:ext cx="1297172" cy="693397"/>
          </a:xfrm>
          <a:custGeom>
            <a:avLst/>
            <a:gdLst/>
            <a:ahLst/>
            <a:cxnLst/>
            <a:rect l="l" t="t" r="r" b="b"/>
            <a:pathLst>
              <a:path w="1297172" h="693397">
                <a:moveTo>
                  <a:pt x="0" y="0"/>
                </a:moveTo>
                <a:lnTo>
                  <a:pt x="1297171" y="0"/>
                </a:lnTo>
                <a:lnTo>
                  <a:pt x="1297171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7720630" y="5881408"/>
            <a:ext cx="8588060" cy="4231571"/>
          </a:xfrm>
          <a:custGeom>
            <a:avLst/>
            <a:gdLst/>
            <a:ahLst/>
            <a:cxnLst/>
            <a:rect l="l" t="t" r="r" b="b"/>
            <a:pathLst>
              <a:path w="8588060" h="4231571">
                <a:moveTo>
                  <a:pt x="0" y="0"/>
                </a:moveTo>
                <a:lnTo>
                  <a:pt x="8588060" y="0"/>
                </a:lnTo>
                <a:lnTo>
                  <a:pt x="8588060" y="4231571"/>
                </a:lnTo>
                <a:lnTo>
                  <a:pt x="0" y="42315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兌換商城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4989" y="9172575"/>
            <a:ext cx="58400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70525"/>
            <a:ext cx="4385147" cy="4150796"/>
            <a:chOff x="0" y="0"/>
            <a:chExt cx="5846862" cy="5534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5534395"/>
            </a:xfrm>
            <a:custGeom>
              <a:avLst/>
              <a:gdLst/>
              <a:ahLst/>
              <a:cxnLst/>
              <a:rect l="l" t="t" r="r" b="b"/>
              <a:pathLst>
                <a:path w="5846862" h="5534395">
                  <a:moveTo>
                    <a:pt x="0" y="0"/>
                  </a:moveTo>
                  <a:lnTo>
                    <a:pt x="5846862" y="0"/>
                  </a:lnTo>
                  <a:lnTo>
                    <a:pt x="5846862" y="5534395"/>
                  </a:lnTo>
                  <a:lnTo>
                    <a:pt x="0" y="553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088" r="-1708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AI辨識可透過上傳圖片或快速選擇回收物，來辨識物品內容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896875" y="3039497"/>
            <a:ext cx="12038611" cy="5613002"/>
          </a:xfrm>
          <a:custGeom>
            <a:avLst/>
            <a:gdLst/>
            <a:ahLst/>
            <a:cxnLst/>
            <a:rect l="l" t="t" r="r" b="b"/>
            <a:pathLst>
              <a:path w="12038611" h="5613002">
                <a:moveTo>
                  <a:pt x="0" y="0"/>
                </a:moveTo>
                <a:lnTo>
                  <a:pt x="12038611" y="0"/>
                </a:lnTo>
                <a:lnTo>
                  <a:pt x="12038611" y="5613002"/>
                </a:lnTo>
                <a:lnTo>
                  <a:pt x="0" y="5613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AI智慧掃描</a:t>
            </a:r>
          </a:p>
        </p:txBody>
      </p:sp>
      <p:sp>
        <p:nvSpPr>
          <p:cNvPr id="7" name="Freeform 7"/>
          <p:cNvSpPr/>
          <p:nvPr/>
        </p:nvSpPr>
        <p:spPr>
          <a:xfrm>
            <a:off x="7186953" y="4799868"/>
            <a:ext cx="1957047" cy="1046130"/>
          </a:xfrm>
          <a:custGeom>
            <a:avLst/>
            <a:gdLst/>
            <a:ahLst/>
            <a:cxnLst/>
            <a:rect l="l" t="t" r="r" b="b"/>
            <a:pathLst>
              <a:path w="1957047" h="1046130">
                <a:moveTo>
                  <a:pt x="0" y="0"/>
                </a:moveTo>
                <a:lnTo>
                  <a:pt x="1957047" y="0"/>
                </a:lnTo>
                <a:lnTo>
                  <a:pt x="1957047" y="1046130"/>
                </a:lnTo>
                <a:lnTo>
                  <a:pt x="0" y="10461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11752466" y="4799868"/>
            <a:ext cx="1891273" cy="1010971"/>
          </a:xfrm>
          <a:custGeom>
            <a:avLst/>
            <a:gdLst/>
            <a:ahLst/>
            <a:cxnLst/>
            <a:rect l="l" t="t" r="r" b="b"/>
            <a:pathLst>
              <a:path w="1891273" h="1010971">
                <a:moveTo>
                  <a:pt x="0" y="0"/>
                </a:moveTo>
                <a:lnTo>
                  <a:pt x="1891273" y="0"/>
                </a:lnTo>
                <a:lnTo>
                  <a:pt x="1891273" y="1010971"/>
                </a:lnTo>
                <a:lnTo>
                  <a:pt x="0" y="1010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6840200" y="9172575"/>
            <a:ext cx="1352909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70525"/>
            <a:ext cx="4385147" cy="5350946"/>
            <a:chOff x="0" y="0"/>
            <a:chExt cx="5846862" cy="7134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7134595"/>
            </a:xfrm>
            <a:custGeom>
              <a:avLst/>
              <a:gdLst/>
              <a:ahLst/>
              <a:cxnLst/>
              <a:rect l="l" t="t" r="r" b="b"/>
              <a:pathLst>
                <a:path w="5846862" h="7134595">
                  <a:moveTo>
                    <a:pt x="0" y="0"/>
                  </a:moveTo>
                  <a:lnTo>
                    <a:pt x="5846862" y="0"/>
                  </a:lnTo>
                  <a:lnTo>
                    <a:pt x="5846862" y="7134595"/>
                  </a:lnTo>
                  <a:lnTo>
                    <a:pt x="0" y="713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6486" r="-3648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3968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將要辨識的圖片拖曳放入或點擊上傳，再點擊下方「開始AI辨識」即可辨識圖片內容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917879" y="2160723"/>
            <a:ext cx="11912002" cy="7370551"/>
          </a:xfrm>
          <a:custGeom>
            <a:avLst/>
            <a:gdLst/>
            <a:ahLst/>
            <a:cxnLst/>
            <a:rect l="l" t="t" r="r" b="b"/>
            <a:pathLst>
              <a:path w="11912002" h="7370551">
                <a:moveTo>
                  <a:pt x="0" y="0"/>
                </a:moveTo>
                <a:lnTo>
                  <a:pt x="11912002" y="0"/>
                </a:lnTo>
                <a:lnTo>
                  <a:pt x="11912002" y="7370551"/>
                </a:lnTo>
                <a:lnTo>
                  <a:pt x="0" y="7370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AI智慧掃描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35931" y="9172575"/>
            <a:ext cx="76211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9088" y="3068102"/>
            <a:ext cx="4385147" cy="3550721"/>
            <a:chOff x="0" y="0"/>
            <a:chExt cx="5846862" cy="4734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6862" cy="4734295"/>
            </a:xfrm>
            <a:custGeom>
              <a:avLst/>
              <a:gdLst/>
              <a:ahLst/>
              <a:cxnLst/>
              <a:rect l="l" t="t" r="r" b="b"/>
              <a:pathLst>
                <a:path w="5846862" h="4734295">
                  <a:moveTo>
                    <a:pt x="0" y="0"/>
                  </a:moveTo>
                  <a:lnTo>
                    <a:pt x="5846862" y="0"/>
                  </a:lnTo>
                  <a:lnTo>
                    <a:pt x="5846862" y="4734295"/>
                  </a:lnTo>
                  <a:lnTo>
                    <a:pt x="0" y="4734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389" r="-738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51685"/>
              <a:ext cx="5846862" cy="156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b="1" spc="21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透過AI辨識後，即顯示辨識結果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29088" y="616229"/>
            <a:ext cx="7914912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40"/>
              </a:lnSpc>
            </a:pPr>
            <a:r>
              <a:rPr lang="en-US" sz="8000" b="1" spc="-28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AI智慧掃描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15690" y="9172575"/>
            <a:ext cx="802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14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2019E8E-AC00-095E-D936-8EA2E530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90" r="25343"/>
          <a:stretch>
            <a:fillRect/>
          </a:stretch>
        </p:blipFill>
        <p:spPr>
          <a:xfrm>
            <a:off x="7543800" y="495300"/>
            <a:ext cx="9220200" cy="84689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438814"/>
            <a:ext cx="3924719" cy="1848186"/>
          </a:xfrm>
          <a:custGeom>
            <a:avLst/>
            <a:gdLst/>
            <a:ahLst/>
            <a:cxnLst/>
            <a:rect l="l" t="t" r="r" b="b"/>
            <a:pathLst>
              <a:path w="3924719" h="1848186">
                <a:moveTo>
                  <a:pt x="0" y="0"/>
                </a:moveTo>
                <a:lnTo>
                  <a:pt x="3924719" y="0"/>
                </a:lnTo>
                <a:lnTo>
                  <a:pt x="3924719" y="1848186"/>
                </a:lnTo>
                <a:lnTo>
                  <a:pt x="0" y="184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507376" y="3684882"/>
            <a:ext cx="1127324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0"/>
              </a:lnSpc>
            </a:pPr>
            <a:r>
              <a:rPr lang="en-US" sz="15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04 未來展望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36288" y="9172575"/>
            <a:ext cx="7614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44495" y="-134744"/>
            <a:ext cx="6943487" cy="10421744"/>
          </a:xfrm>
          <a:custGeom>
            <a:avLst/>
            <a:gdLst/>
            <a:ahLst/>
            <a:cxnLst/>
            <a:rect l="l" t="t" r="r" b="b"/>
            <a:pathLst>
              <a:path w="6943487" h="10421744">
                <a:moveTo>
                  <a:pt x="0" y="0"/>
                </a:moveTo>
                <a:lnTo>
                  <a:pt x="6943486" y="0"/>
                </a:lnTo>
                <a:lnTo>
                  <a:pt x="6943486" y="10421744"/>
                </a:lnTo>
                <a:lnTo>
                  <a:pt x="0" y="10421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468" r="-6246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2162695" y="748910"/>
            <a:ext cx="7914912" cy="1308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69"/>
              </a:lnSpc>
            </a:pPr>
            <a:r>
              <a:rPr lang="en-US" sz="8999" b="1" spc="-314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合作與商業模式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71761" y="2333647"/>
            <a:ext cx="64967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4"/>
              </a:lnSpc>
              <a:spcBef>
                <a:spcPct val="0"/>
              </a:spcBef>
            </a:pPr>
            <a:r>
              <a:rPr lang="en-US" sz="4499" b="1" spc="26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推動合作 × 擴展價值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3912" y="3711906"/>
            <a:ext cx="10672477" cy="5141443"/>
            <a:chOff x="0" y="0"/>
            <a:chExt cx="14229969" cy="6855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1883" cy="2480196"/>
            </a:xfrm>
            <a:custGeom>
              <a:avLst/>
              <a:gdLst/>
              <a:ahLst/>
              <a:cxnLst/>
              <a:rect l="l" t="t" r="r" b="b"/>
              <a:pathLst>
                <a:path w="6621883" h="2480196">
                  <a:moveTo>
                    <a:pt x="0" y="0"/>
                  </a:moveTo>
                  <a:lnTo>
                    <a:pt x="6621883" y="0"/>
                  </a:lnTo>
                  <a:lnTo>
                    <a:pt x="6621883" y="2480196"/>
                  </a:lnTo>
                  <a:lnTo>
                    <a:pt x="0" y="2480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4209" y="773373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校園推廣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7608085" y="0"/>
              <a:ext cx="6621883" cy="2480196"/>
            </a:xfrm>
            <a:custGeom>
              <a:avLst/>
              <a:gdLst/>
              <a:ahLst/>
              <a:cxnLst/>
              <a:rect l="l" t="t" r="r" b="b"/>
              <a:pathLst>
                <a:path w="6621883" h="2480196">
                  <a:moveTo>
                    <a:pt x="0" y="0"/>
                  </a:moveTo>
                  <a:lnTo>
                    <a:pt x="6621884" y="0"/>
                  </a:lnTo>
                  <a:lnTo>
                    <a:pt x="6621884" y="2480196"/>
                  </a:lnTo>
                  <a:lnTo>
                    <a:pt x="0" y="2480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52295" y="773373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企業 ESG 合作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4375061"/>
              <a:ext cx="6621883" cy="2480196"/>
            </a:xfrm>
            <a:custGeom>
              <a:avLst/>
              <a:gdLst/>
              <a:ahLst/>
              <a:cxnLst/>
              <a:rect l="l" t="t" r="r" b="b"/>
              <a:pathLst>
                <a:path w="6621883" h="2480196">
                  <a:moveTo>
                    <a:pt x="0" y="0"/>
                  </a:moveTo>
                  <a:lnTo>
                    <a:pt x="6621883" y="0"/>
                  </a:lnTo>
                  <a:lnTo>
                    <a:pt x="6621883" y="2480196"/>
                  </a:lnTo>
                  <a:lnTo>
                    <a:pt x="0" y="2480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4209" y="5148434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擴展</a:t>
              </a:r>
              <a:r>
                <a:rPr lang="en-US" sz="4499" b="1" u="none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合作商家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608085" y="4375061"/>
              <a:ext cx="6621883" cy="2480196"/>
            </a:xfrm>
            <a:custGeom>
              <a:avLst/>
              <a:gdLst/>
              <a:ahLst/>
              <a:cxnLst/>
              <a:rect l="l" t="t" r="r" b="b"/>
              <a:pathLst>
                <a:path w="6621883" h="2480196">
                  <a:moveTo>
                    <a:pt x="0" y="0"/>
                  </a:moveTo>
                  <a:lnTo>
                    <a:pt x="6621884" y="0"/>
                  </a:lnTo>
                  <a:lnTo>
                    <a:pt x="6621884" y="2480196"/>
                  </a:lnTo>
                  <a:lnTo>
                    <a:pt x="0" y="2480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52295" y="5148434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永續營運模式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45000" y="9182100"/>
            <a:ext cx="1397316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72475" y="0"/>
            <a:ext cx="6853714" cy="10287000"/>
          </a:xfrm>
          <a:custGeom>
            <a:avLst/>
            <a:gdLst/>
            <a:ahLst/>
            <a:cxnLst/>
            <a:rect l="l" t="t" r="r" b="b"/>
            <a:pathLst>
              <a:path w="6853714" h="10287000">
                <a:moveTo>
                  <a:pt x="0" y="0"/>
                </a:moveTo>
                <a:lnTo>
                  <a:pt x="6853713" y="0"/>
                </a:lnTo>
                <a:lnTo>
                  <a:pt x="68537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640" r="-62640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170525"/>
            <a:ext cx="4385147" cy="3093522"/>
            <a:chOff x="0" y="0"/>
            <a:chExt cx="5846862" cy="41246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46862" cy="4124696"/>
            </a:xfrm>
            <a:custGeom>
              <a:avLst/>
              <a:gdLst/>
              <a:ahLst/>
              <a:cxnLst/>
              <a:rect l="l" t="t" r="r" b="b"/>
              <a:pathLst>
                <a:path w="5846862" h="4124696">
                  <a:moveTo>
                    <a:pt x="0" y="0"/>
                  </a:moveTo>
                  <a:lnTo>
                    <a:pt x="5846862" y="0"/>
                  </a:lnTo>
                  <a:lnTo>
                    <a:pt x="5846862" y="4124696"/>
                  </a:lnTo>
                  <a:lnTo>
                    <a:pt x="0" y="4124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42160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全民回收數位化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6982" y="3170525"/>
            <a:ext cx="4476515" cy="3157978"/>
            <a:chOff x="0" y="0"/>
            <a:chExt cx="5968686" cy="4210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8686" cy="4210637"/>
            </a:xfrm>
            <a:custGeom>
              <a:avLst/>
              <a:gdLst/>
              <a:ahLst/>
              <a:cxnLst/>
              <a:rect l="l" t="t" r="r" b="b"/>
              <a:pathLst>
                <a:path w="5968686" h="4210637">
                  <a:moveTo>
                    <a:pt x="0" y="0"/>
                  </a:moveTo>
                  <a:lnTo>
                    <a:pt x="5968686" y="0"/>
                  </a:lnTo>
                  <a:lnTo>
                    <a:pt x="5968686" y="4210637"/>
                  </a:lnTo>
                  <a:lnTo>
                    <a:pt x="0" y="421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912" y="1662258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 dirty="0" err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教育</a:t>
              </a:r>
              <a:r>
                <a:rPr lang="zh-TW" altLang="en-US" sz="4499" b="1" spc="269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推廣化</a:t>
              </a:r>
              <a:endParaRPr lang="en-US" sz="4499" b="1" spc="269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89408" y="6738078"/>
            <a:ext cx="4461485" cy="3147375"/>
            <a:chOff x="0" y="0"/>
            <a:chExt cx="5948646" cy="41964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48646" cy="4196499"/>
            </a:xfrm>
            <a:custGeom>
              <a:avLst/>
              <a:gdLst/>
              <a:ahLst/>
              <a:cxnLst/>
              <a:rect l="l" t="t" r="r" b="b"/>
              <a:pathLst>
                <a:path w="5948646" h="4196499">
                  <a:moveTo>
                    <a:pt x="0" y="0"/>
                  </a:moveTo>
                  <a:lnTo>
                    <a:pt x="5948646" y="0"/>
                  </a:lnTo>
                  <a:lnTo>
                    <a:pt x="5948646" y="4196499"/>
                  </a:lnTo>
                  <a:lnTo>
                    <a:pt x="0" y="4196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92" y="1762026"/>
              <a:ext cx="5846862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b="1" spc="269" dirty="0" err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循環經濟</a:t>
              </a:r>
              <a:r>
                <a:rPr lang="zh-TW" altLang="en-US" sz="4499" b="1" spc="269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化</a:t>
              </a:r>
              <a:endParaRPr lang="en-US" sz="4499" b="1" spc="269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62695" y="529614"/>
            <a:ext cx="7914912" cy="1308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9"/>
              </a:lnSpc>
            </a:pPr>
            <a:r>
              <a:rPr lang="en-US" sz="8999" b="1" spc="-314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長期願景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71761" y="2178408"/>
            <a:ext cx="64967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4"/>
              </a:lnSpc>
              <a:spcBef>
                <a:spcPct val="0"/>
              </a:spcBef>
            </a:pPr>
            <a:r>
              <a:rPr lang="en-US" sz="4499" b="1" spc="26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邁向綠色數位生態系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41884" y="9172575"/>
            <a:ext cx="75021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429545"/>
            <a:ext cx="3105167" cy="1857455"/>
          </a:xfrm>
          <a:custGeom>
            <a:avLst/>
            <a:gdLst/>
            <a:ahLst/>
            <a:cxnLst/>
            <a:rect l="l" t="t" r="r" b="b"/>
            <a:pathLst>
              <a:path w="3105167" h="1857455">
                <a:moveTo>
                  <a:pt x="0" y="0"/>
                </a:moveTo>
                <a:lnTo>
                  <a:pt x="3105167" y="0"/>
                </a:lnTo>
                <a:lnTo>
                  <a:pt x="3105167" y="1857455"/>
                </a:lnTo>
                <a:lnTo>
                  <a:pt x="0" y="1857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507376" y="3684882"/>
            <a:ext cx="1127324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0"/>
              </a:lnSpc>
            </a:pPr>
            <a:r>
              <a:rPr lang="en-US" sz="15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05 初評修正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30037" y="9172575"/>
            <a:ext cx="77390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476486"/>
            <a:ext cx="2109709" cy="1810514"/>
          </a:xfrm>
          <a:custGeom>
            <a:avLst/>
            <a:gdLst/>
            <a:ahLst/>
            <a:cxnLst/>
            <a:rect l="l" t="t" r="r" b="b"/>
            <a:pathLst>
              <a:path w="2109709" h="1810514">
                <a:moveTo>
                  <a:pt x="0" y="0"/>
                </a:moveTo>
                <a:lnTo>
                  <a:pt x="2109709" y="0"/>
                </a:lnTo>
                <a:lnTo>
                  <a:pt x="2109709" y="1810514"/>
                </a:lnTo>
                <a:lnTo>
                  <a:pt x="0" y="181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603639" y="756875"/>
            <a:ext cx="11964015" cy="99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9"/>
              </a:lnSpc>
              <a:spcBef>
                <a:spcPct val="0"/>
              </a:spcBef>
            </a:pPr>
            <a:r>
              <a:rPr lang="en-US" sz="5999" b="1" spc="35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Q1：審核方式是如何操作的？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3639" y="4699863"/>
            <a:ext cx="15655661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  <a:spcBef>
                <a:spcPct val="0"/>
              </a:spcBef>
            </a:pPr>
            <a:r>
              <a:rPr lang="en-US" sz="6000" b="1" spc="35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Q2：如何防範同一位使用者重複申請審核同一筆資料？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3639" y="7140625"/>
            <a:ext cx="10435961" cy="807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50"/>
              </a:lnSpc>
              <a:spcBef>
                <a:spcPct val="0"/>
              </a:spcBef>
            </a:pPr>
            <a:r>
              <a:rPr lang="en-US" sz="5000" spc="300" dirty="0" err="1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每位會員每日僅能申請一筆審核</a:t>
            </a:r>
            <a:r>
              <a:rPr lang="en-US" sz="5000" spc="300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3639" y="2385469"/>
            <a:ext cx="15991976" cy="164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4499" spc="319">
                <a:solidFill>
                  <a:srgbClr val="086A35"/>
                </a:solidFill>
                <a:latin typeface="Montserrat"/>
                <a:ea typeface="Montserrat"/>
                <a:cs typeface="Montserrat"/>
                <a:sym typeface="Montserrat"/>
              </a:rPr>
              <a:t>使用者上傳回收物＋QR Code 照片 → 系統進行比對 → Verifier（審核人員）確認 → 系統完成紀錄與點數發放。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172575"/>
            <a:ext cx="950596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9214" y="1745598"/>
            <a:ext cx="7702998" cy="3565973"/>
            <a:chOff x="0" y="0"/>
            <a:chExt cx="1791005" cy="829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1005" cy="829116"/>
            </a:xfrm>
            <a:custGeom>
              <a:avLst/>
              <a:gdLst/>
              <a:ahLst/>
              <a:cxnLst/>
              <a:rect l="l" t="t" r="r" b="b"/>
              <a:pathLst>
                <a:path w="1791005" h="829116">
                  <a:moveTo>
                    <a:pt x="0" y="0"/>
                  </a:moveTo>
                  <a:lnTo>
                    <a:pt x="1791005" y="0"/>
                  </a:lnTo>
                  <a:lnTo>
                    <a:pt x="1791005" y="829116"/>
                  </a:lnTo>
                  <a:lnTo>
                    <a:pt x="0" y="829116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791005" cy="791016"/>
            </a:xfrm>
            <a:prstGeom prst="rect">
              <a:avLst/>
            </a:prstGeom>
          </p:spPr>
          <p:txBody>
            <a:bodyPr lIns="57544" tIns="57544" rIns="57544" bIns="57544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9214" y="1745598"/>
            <a:ext cx="7702998" cy="1266010"/>
            <a:chOff x="0" y="0"/>
            <a:chExt cx="1791005" cy="294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1005" cy="294357"/>
            </a:xfrm>
            <a:custGeom>
              <a:avLst/>
              <a:gdLst/>
              <a:ahLst/>
              <a:cxnLst/>
              <a:rect l="l" t="t" r="r" b="b"/>
              <a:pathLst>
                <a:path w="1791005" h="294357">
                  <a:moveTo>
                    <a:pt x="0" y="0"/>
                  </a:moveTo>
                  <a:lnTo>
                    <a:pt x="1791005" y="0"/>
                  </a:lnTo>
                  <a:lnTo>
                    <a:pt x="1791005" y="294357"/>
                  </a:lnTo>
                  <a:lnTo>
                    <a:pt x="0" y="294357"/>
                  </a:lnTo>
                  <a:close/>
                </a:path>
              </a:pathLst>
            </a:custGeom>
            <a:solidFill>
              <a:srgbClr val="086A35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791005" cy="256257"/>
            </a:xfrm>
            <a:prstGeom prst="rect">
              <a:avLst/>
            </a:prstGeom>
          </p:spPr>
          <p:txBody>
            <a:bodyPr lIns="57544" tIns="57544" rIns="57544" bIns="57544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30143" y="1745598"/>
            <a:ext cx="7129157" cy="3565973"/>
            <a:chOff x="0" y="0"/>
            <a:chExt cx="1877638" cy="9391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7638" cy="939186"/>
            </a:xfrm>
            <a:custGeom>
              <a:avLst/>
              <a:gdLst/>
              <a:ahLst/>
              <a:cxnLst/>
              <a:rect l="l" t="t" r="r" b="b"/>
              <a:pathLst>
                <a:path w="1877638" h="939186">
                  <a:moveTo>
                    <a:pt x="0" y="0"/>
                  </a:moveTo>
                  <a:lnTo>
                    <a:pt x="1877638" y="0"/>
                  </a:lnTo>
                  <a:lnTo>
                    <a:pt x="1877638" y="939186"/>
                  </a:lnTo>
                  <a:lnTo>
                    <a:pt x="0" y="939186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8100"/>
              <a:ext cx="1877638" cy="901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30143" y="1756799"/>
            <a:ext cx="7129157" cy="1254809"/>
            <a:chOff x="0" y="0"/>
            <a:chExt cx="1877638" cy="3304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7638" cy="330485"/>
            </a:xfrm>
            <a:custGeom>
              <a:avLst/>
              <a:gdLst/>
              <a:ahLst/>
              <a:cxnLst/>
              <a:rect l="l" t="t" r="r" b="b"/>
              <a:pathLst>
                <a:path w="1877638" h="330485">
                  <a:moveTo>
                    <a:pt x="0" y="0"/>
                  </a:moveTo>
                  <a:lnTo>
                    <a:pt x="1877638" y="0"/>
                  </a:lnTo>
                  <a:lnTo>
                    <a:pt x="1877638" y="330485"/>
                  </a:lnTo>
                  <a:lnTo>
                    <a:pt x="0" y="330485"/>
                  </a:lnTo>
                  <a:close/>
                </a:path>
              </a:pathLst>
            </a:custGeom>
            <a:solidFill>
              <a:srgbClr val="086A35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1877638" cy="292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70870" y="7673771"/>
            <a:ext cx="5879684" cy="1427519"/>
            <a:chOff x="0" y="0"/>
            <a:chExt cx="7839579" cy="190335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839579" cy="1903359"/>
              <a:chOff x="0" y="0"/>
              <a:chExt cx="1367071" cy="33190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367071" cy="331909"/>
              </a:xfrm>
              <a:custGeom>
                <a:avLst/>
                <a:gdLst/>
                <a:ahLst/>
                <a:cxnLst/>
                <a:rect l="l" t="t" r="r" b="b"/>
                <a:pathLst>
                  <a:path w="1367071" h="331909">
                    <a:moveTo>
                      <a:pt x="0" y="0"/>
                    </a:moveTo>
                    <a:lnTo>
                      <a:pt x="1367071" y="0"/>
                    </a:lnTo>
                    <a:lnTo>
                      <a:pt x="1367071" y="331909"/>
                    </a:lnTo>
                    <a:lnTo>
                      <a:pt x="0" y="331909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38100"/>
                <a:ext cx="1367071" cy="293809"/>
              </a:xfrm>
              <a:prstGeom prst="rect">
                <a:avLst/>
              </a:prstGeom>
            </p:spPr>
            <p:txBody>
              <a:bodyPr lIns="57544" tIns="57544" rIns="57544" bIns="57544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533638"/>
              <a:ext cx="7839579" cy="921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0"/>
                </a:lnSpc>
                <a:spcBef>
                  <a:spcPct val="0"/>
                </a:spcBef>
              </a:pPr>
              <a:r>
                <a:rPr lang="en-US" sz="5000" b="1" spc="355">
                  <a:solidFill>
                    <a:srgbClr val="086A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鄰里合作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547544" y="7664246"/>
            <a:ext cx="5879684" cy="1427519"/>
            <a:chOff x="0" y="0"/>
            <a:chExt cx="7839579" cy="1903359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7839579" cy="1903359"/>
              <a:chOff x="0" y="0"/>
              <a:chExt cx="1367071" cy="3319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67071" cy="331909"/>
              </a:xfrm>
              <a:custGeom>
                <a:avLst/>
                <a:gdLst/>
                <a:ahLst/>
                <a:cxnLst/>
                <a:rect l="l" t="t" r="r" b="b"/>
                <a:pathLst>
                  <a:path w="1367071" h="331909">
                    <a:moveTo>
                      <a:pt x="0" y="0"/>
                    </a:moveTo>
                    <a:lnTo>
                      <a:pt x="1367071" y="0"/>
                    </a:lnTo>
                    <a:lnTo>
                      <a:pt x="1367071" y="331909"/>
                    </a:lnTo>
                    <a:lnTo>
                      <a:pt x="0" y="331909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38100"/>
                <a:ext cx="1367071" cy="293809"/>
              </a:xfrm>
              <a:prstGeom prst="rect">
                <a:avLst/>
              </a:prstGeom>
            </p:spPr>
            <p:txBody>
              <a:bodyPr lIns="57544" tIns="57544" rIns="57544" bIns="57544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533638"/>
              <a:ext cx="7839579" cy="921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0"/>
                </a:lnSpc>
                <a:spcBef>
                  <a:spcPct val="0"/>
                </a:spcBef>
              </a:pPr>
              <a:r>
                <a:rPr lang="en-US" sz="5000" b="1" spc="355">
                  <a:solidFill>
                    <a:srgbClr val="086A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企業合作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8502279" y="8118758"/>
            <a:ext cx="1793540" cy="518496"/>
          </a:xfrm>
          <a:custGeom>
            <a:avLst/>
            <a:gdLst/>
            <a:ahLst/>
            <a:cxnLst/>
            <a:rect l="l" t="t" r="r" b="b"/>
            <a:pathLst>
              <a:path w="1793540" h="518496">
                <a:moveTo>
                  <a:pt x="0" y="0"/>
                </a:moveTo>
                <a:lnTo>
                  <a:pt x="1793540" y="0"/>
                </a:lnTo>
                <a:lnTo>
                  <a:pt x="1793540" y="518496"/>
                </a:lnTo>
                <a:lnTo>
                  <a:pt x="0" y="518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603639" y="355477"/>
            <a:ext cx="14305059" cy="99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9"/>
              </a:lnSpc>
              <a:spcBef>
                <a:spcPct val="0"/>
              </a:spcBef>
            </a:pPr>
            <a:r>
              <a:rPr lang="en-US" sz="5999" b="1" spc="359" dirty="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Q3：不使用實體機器所帶來的問題？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59214" y="5883071"/>
            <a:ext cx="16308452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  <a:spcBef>
                <a:spcPct val="0"/>
              </a:spcBef>
            </a:pPr>
            <a:r>
              <a:rPr lang="en-US" sz="6000" b="1" spc="35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Q4：是否考慮以企業合作方式來推進ESG？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2396" y="3186801"/>
            <a:ext cx="6576634" cy="16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6"/>
              </a:lnSpc>
              <a:spcBef>
                <a:spcPct val="0"/>
              </a:spcBef>
            </a:pPr>
            <a:r>
              <a:rPr lang="en-US" sz="4997" spc="29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成本與維護費用過高</a:t>
            </a:r>
          </a:p>
          <a:p>
            <a:pPr algn="ctr">
              <a:lnSpc>
                <a:spcPts val="6746"/>
              </a:lnSpc>
              <a:spcBef>
                <a:spcPct val="0"/>
              </a:spcBef>
            </a:pPr>
            <a:r>
              <a:rPr lang="en-US" sz="4997" spc="29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系統利潤不足以支撐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28881" y="1911878"/>
            <a:ext cx="6963663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0"/>
              </a:lnSpc>
              <a:spcBef>
                <a:spcPct val="0"/>
              </a:spcBef>
            </a:pPr>
            <a:r>
              <a:rPr lang="en-US" sz="5000" b="1" spc="30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不使用實體機器原因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51548" y="3201309"/>
            <a:ext cx="6886348" cy="168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4999" spc="29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建立防弊審核機制</a:t>
            </a:r>
          </a:p>
          <a:p>
            <a:pPr algn="ctr">
              <a:lnSpc>
                <a:spcPts val="6749"/>
              </a:lnSpc>
              <a:spcBef>
                <a:spcPct val="0"/>
              </a:spcBef>
            </a:pPr>
            <a:r>
              <a:rPr lang="en-US" sz="4999" spc="29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透過系統流程避免造假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09825" y="1927841"/>
            <a:ext cx="5217404" cy="83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  <a:spcBef>
                <a:spcPct val="0"/>
              </a:spcBef>
            </a:pPr>
            <a:r>
              <a:rPr lang="en-US" sz="4999" b="1" spc="2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解決方式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83839"/>
            <a:ext cx="16078249" cy="172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0"/>
              </a:lnSpc>
            </a:pPr>
            <a:r>
              <a:rPr lang="en-US" sz="6000" b="1" spc="-21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Q6：商業模式要多加思考，其他系統之所以要使用機器回收是為了要避免弊端 (參考綠鬃蜥事件)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79535" y="1913670"/>
            <a:ext cx="5805866" cy="2532019"/>
            <a:chOff x="0" y="0"/>
            <a:chExt cx="7741155" cy="337602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741155" cy="3376026"/>
              <a:chOff x="0" y="0"/>
              <a:chExt cx="1529117" cy="66686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29117" cy="666869"/>
              </a:xfrm>
              <a:custGeom>
                <a:avLst/>
                <a:gdLst/>
                <a:ahLst/>
                <a:cxnLst/>
                <a:rect l="l" t="t" r="r" b="b"/>
                <a:pathLst>
                  <a:path w="1529117" h="666869">
                    <a:moveTo>
                      <a:pt x="0" y="0"/>
                    </a:moveTo>
                    <a:lnTo>
                      <a:pt x="1529117" y="0"/>
                    </a:lnTo>
                    <a:lnTo>
                      <a:pt x="1529117" y="666869"/>
                    </a:lnTo>
                    <a:lnTo>
                      <a:pt x="0" y="666869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38100"/>
                <a:ext cx="1529117" cy="6287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848555"/>
              <a:ext cx="7741155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spc="26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後台系統維護與管理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7741155" cy="1263528"/>
              <a:chOff x="0" y="0"/>
              <a:chExt cx="1529117" cy="2495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529117" cy="249586"/>
              </a:xfrm>
              <a:custGeom>
                <a:avLst/>
                <a:gdLst/>
                <a:ahLst/>
                <a:cxnLst/>
                <a:rect l="l" t="t" r="r" b="b"/>
                <a:pathLst>
                  <a:path w="1529117" h="249586">
                    <a:moveTo>
                      <a:pt x="0" y="0"/>
                    </a:moveTo>
                    <a:lnTo>
                      <a:pt x="1529117" y="0"/>
                    </a:lnTo>
                    <a:lnTo>
                      <a:pt x="1529117" y="249586"/>
                    </a:lnTo>
                    <a:lnTo>
                      <a:pt x="0" y="249586"/>
                    </a:ln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38100"/>
                <a:ext cx="1529117" cy="211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92308" y="44389"/>
              <a:ext cx="6956538" cy="108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49"/>
                </a:lnSpc>
                <a:spcBef>
                  <a:spcPct val="0"/>
                </a:spcBef>
              </a:pPr>
              <a:r>
                <a:rPr lang="en-US" sz="4999" b="1" spc="2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Admin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37738" y="1913670"/>
            <a:ext cx="5625786" cy="2532019"/>
            <a:chOff x="0" y="0"/>
            <a:chExt cx="7501047" cy="337602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501047" cy="3376026"/>
              <a:chOff x="0" y="0"/>
              <a:chExt cx="1481688" cy="66686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81688" cy="666869"/>
              </a:xfrm>
              <a:custGeom>
                <a:avLst/>
                <a:gdLst/>
                <a:ahLst/>
                <a:cxnLst/>
                <a:rect l="l" t="t" r="r" b="b"/>
                <a:pathLst>
                  <a:path w="1481688" h="666869">
                    <a:moveTo>
                      <a:pt x="0" y="0"/>
                    </a:moveTo>
                    <a:lnTo>
                      <a:pt x="1481688" y="0"/>
                    </a:lnTo>
                    <a:lnTo>
                      <a:pt x="1481688" y="666869"/>
                    </a:lnTo>
                    <a:lnTo>
                      <a:pt x="0" y="666869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38100"/>
                <a:ext cx="1481688" cy="6287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1848555"/>
              <a:ext cx="7501047" cy="96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74"/>
                </a:lnSpc>
                <a:spcBef>
                  <a:spcPct val="0"/>
                </a:spcBef>
              </a:pPr>
              <a:r>
                <a:rPr lang="en-US" sz="4499" spc="26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現場回收確認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7501047" cy="1263528"/>
              <a:chOff x="0" y="0"/>
              <a:chExt cx="1481688" cy="2495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81688" cy="249586"/>
              </a:xfrm>
              <a:custGeom>
                <a:avLst/>
                <a:gdLst/>
                <a:ahLst/>
                <a:cxnLst/>
                <a:rect l="l" t="t" r="r" b="b"/>
                <a:pathLst>
                  <a:path w="1481688" h="249586">
                    <a:moveTo>
                      <a:pt x="0" y="0"/>
                    </a:moveTo>
                    <a:lnTo>
                      <a:pt x="1481688" y="0"/>
                    </a:lnTo>
                    <a:lnTo>
                      <a:pt x="1481688" y="249586"/>
                    </a:lnTo>
                    <a:lnTo>
                      <a:pt x="0" y="249586"/>
                    </a:ln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38100"/>
                <a:ext cx="1481688" cy="211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80140" y="44389"/>
              <a:ext cx="6740768" cy="108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49"/>
                </a:lnSpc>
                <a:spcBef>
                  <a:spcPct val="0"/>
                </a:spcBef>
              </a:pPr>
              <a:r>
                <a:rPr lang="en-US" sz="4999" b="1" spc="2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Verifier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503970"/>
            <a:ext cx="1602735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  <a:spcBef>
                <a:spcPct val="0"/>
              </a:spcBef>
            </a:pPr>
            <a:r>
              <a:rPr lang="en-US" sz="6000" b="1" spc="359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Q5：分析類別圖中為何會有兩個確認人員？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57619" y="6760769"/>
            <a:ext cx="16730381" cy="3662220"/>
            <a:chOff x="0" y="0"/>
            <a:chExt cx="22307175" cy="4882960"/>
          </a:xfrm>
        </p:grpSpPr>
        <p:sp>
          <p:nvSpPr>
            <p:cNvPr id="23" name="TextBox 23"/>
            <p:cNvSpPr txBox="1"/>
            <p:nvPr/>
          </p:nvSpPr>
          <p:spPr>
            <a:xfrm>
              <a:off x="1259357" y="-40407"/>
              <a:ext cx="21047818" cy="4923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999"/>
                </a:lnSpc>
              </a:pPr>
              <a:r>
                <a:rPr lang="en-US" sz="3999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影像佐證：回收物＋QR</a:t>
              </a:r>
              <a:r>
                <a:rPr lang="en-US" sz="3999" u="none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 Code 照片驗證</a:t>
              </a:r>
            </a:p>
            <a:p>
              <a:pPr algn="l">
                <a:lnSpc>
                  <a:spcPts val="7999"/>
                </a:lnSpc>
              </a:pPr>
              <a:r>
                <a:rPr lang="en-US" sz="3999" u="none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回收點認證：合作據點掃碼／人員確認</a:t>
              </a:r>
            </a:p>
            <a:p>
              <a:pPr algn="l">
                <a:lnSpc>
                  <a:spcPts val="7999"/>
                </a:lnSpc>
              </a:pPr>
              <a:r>
                <a:rPr lang="en-US" sz="3999" u="none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積分管控：設上限防止造假</a:t>
              </a:r>
            </a:p>
            <a:p>
              <a:pPr marL="0" lvl="0" indent="0" algn="l">
                <a:lnSpc>
                  <a:spcPts val="5399"/>
                </a:lnSpc>
                <a:spcBef>
                  <a:spcPct val="0"/>
                </a:spcBef>
              </a:pPr>
              <a:endParaRPr lang="en-US" sz="3999" u="none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039675" cy="1159881"/>
            </a:xfrm>
            <a:custGeom>
              <a:avLst/>
              <a:gdLst/>
              <a:ahLst/>
              <a:cxnLst/>
              <a:rect l="l" t="t" r="r" b="b"/>
              <a:pathLst>
                <a:path w="1039675" h="1159881">
                  <a:moveTo>
                    <a:pt x="0" y="0"/>
                  </a:moveTo>
                  <a:lnTo>
                    <a:pt x="1039675" y="0"/>
                  </a:lnTo>
                  <a:lnTo>
                    <a:pt x="1039675" y="1159881"/>
                  </a:lnTo>
                  <a:lnTo>
                    <a:pt x="0" y="1159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362996"/>
              <a:ext cx="1039675" cy="1159881"/>
            </a:xfrm>
            <a:custGeom>
              <a:avLst/>
              <a:gdLst/>
              <a:ahLst/>
              <a:cxnLst/>
              <a:rect l="l" t="t" r="r" b="b"/>
              <a:pathLst>
                <a:path w="1039675" h="1159881">
                  <a:moveTo>
                    <a:pt x="0" y="0"/>
                  </a:moveTo>
                  <a:lnTo>
                    <a:pt x="1039675" y="0"/>
                  </a:lnTo>
                  <a:lnTo>
                    <a:pt x="1039675" y="1159881"/>
                  </a:lnTo>
                  <a:lnTo>
                    <a:pt x="0" y="1159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2726077"/>
              <a:ext cx="1039675" cy="1159881"/>
            </a:xfrm>
            <a:custGeom>
              <a:avLst/>
              <a:gdLst/>
              <a:ahLst/>
              <a:cxnLst/>
              <a:rect l="l" t="t" r="r" b="b"/>
              <a:pathLst>
                <a:path w="1039675" h="1159881">
                  <a:moveTo>
                    <a:pt x="0" y="0"/>
                  </a:moveTo>
                  <a:lnTo>
                    <a:pt x="1039675" y="0"/>
                  </a:lnTo>
                  <a:lnTo>
                    <a:pt x="1039675" y="1159880"/>
                  </a:lnTo>
                  <a:lnTo>
                    <a:pt x="0" y="1159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7534" y="2057400"/>
            <a:ext cx="4954433" cy="3086100"/>
            <a:chOff x="0" y="0"/>
            <a:chExt cx="130487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71" cy="812800"/>
            </a:xfrm>
            <a:custGeom>
              <a:avLst/>
              <a:gdLst/>
              <a:ahLst/>
              <a:cxnLst/>
              <a:rect l="l" t="t" r="r" b="b"/>
              <a:pathLst>
                <a:path w="1304871" h="812800">
                  <a:moveTo>
                    <a:pt x="0" y="0"/>
                  </a:moveTo>
                  <a:lnTo>
                    <a:pt x="1304871" y="0"/>
                  </a:lnTo>
                  <a:lnTo>
                    <a:pt x="130487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04871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08398" y="2251004"/>
            <a:ext cx="1212706" cy="121270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A35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534" y="3593898"/>
            <a:ext cx="4954433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回收量 → 碳減排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資源循環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8398" y="2317548"/>
            <a:ext cx="1212706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6000" b="1" spc="35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9133" y="490537"/>
            <a:ext cx="11457526" cy="96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99"/>
              </a:lnSpc>
              <a:spcBef>
                <a:spcPct val="0"/>
              </a:spcBef>
            </a:pPr>
            <a:r>
              <a:rPr lang="en-US" sz="5999" b="1" spc="359" dirty="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Q7-1：ESG的指標要如何衡量?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0757" y="5512738"/>
            <a:ext cx="16627867" cy="96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6000" b="1" spc="359" dirty="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Q7-2：系統應該要思考如何提供企業價值?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66783" y="2057400"/>
            <a:ext cx="4954433" cy="3086100"/>
            <a:chOff x="0" y="0"/>
            <a:chExt cx="6605911" cy="41148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605911" cy="4114800"/>
              <a:chOff x="0" y="0"/>
              <a:chExt cx="1304871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0487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04871" h="812800">
                    <a:moveTo>
                      <a:pt x="0" y="0"/>
                    </a:moveTo>
                    <a:lnTo>
                      <a:pt x="1304871" y="0"/>
                    </a:lnTo>
                    <a:lnTo>
                      <a:pt x="130487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38100"/>
                <a:ext cx="1304871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523451" y="255611"/>
              <a:ext cx="1587520" cy="158752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85261" y="2067715"/>
              <a:ext cx="5435389" cy="1758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99"/>
                </a:lnSpc>
                <a:spcBef>
                  <a:spcPct val="0"/>
                </a:spcBef>
              </a:pPr>
              <a:r>
                <a:rPr lang="en-US" sz="3999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參與人數、社區互動、教育推廣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23451" y="344521"/>
              <a:ext cx="1587520" cy="131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00"/>
                </a:lnSpc>
                <a:spcBef>
                  <a:spcPct val="0"/>
                </a:spcBef>
              </a:pPr>
              <a:r>
                <a:rPr lang="en-US" sz="6000" b="1" spc="35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04867" y="2057400"/>
            <a:ext cx="4954433" cy="3086100"/>
            <a:chOff x="0" y="0"/>
            <a:chExt cx="6605911" cy="41148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605911" cy="4114800"/>
              <a:chOff x="0" y="0"/>
              <a:chExt cx="1304871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30487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04871" h="812800">
                    <a:moveTo>
                      <a:pt x="0" y="0"/>
                    </a:moveTo>
                    <a:lnTo>
                      <a:pt x="1304871" y="0"/>
                    </a:lnTo>
                    <a:lnTo>
                      <a:pt x="130487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38100"/>
                <a:ext cx="1304871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2067715"/>
              <a:ext cx="6605911" cy="1758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99"/>
                </a:lnSpc>
                <a:spcBef>
                  <a:spcPct val="0"/>
                </a:spcBef>
              </a:pPr>
              <a:r>
                <a:rPr lang="en-US" sz="3999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透明數據</a:t>
              </a:r>
            </a:p>
            <a:p>
              <a:pPr algn="ctr">
                <a:lnSpc>
                  <a:spcPts val="5399"/>
                </a:lnSpc>
                <a:spcBef>
                  <a:spcPct val="0"/>
                </a:spcBef>
              </a:pPr>
              <a:r>
                <a:rPr lang="en-US" sz="3999" spc="239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符合法規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509195" y="255611"/>
              <a:ext cx="1587520" cy="1587520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874172" y="344521"/>
              <a:ext cx="857568" cy="131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00"/>
                </a:lnSpc>
                <a:spcBef>
                  <a:spcPct val="0"/>
                </a:spcBef>
              </a:pPr>
              <a:r>
                <a:rPr lang="en-US" sz="6000" b="1" spc="35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79133" y="6990772"/>
            <a:ext cx="4612834" cy="2455819"/>
            <a:chOff x="0" y="0"/>
            <a:chExt cx="1214903" cy="646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4903" cy="646800"/>
            </a:xfrm>
            <a:custGeom>
              <a:avLst/>
              <a:gdLst/>
              <a:ahLst/>
              <a:cxnLst/>
              <a:rect l="l" t="t" r="r" b="b"/>
              <a:pathLst>
                <a:path w="1214903" h="646800">
                  <a:moveTo>
                    <a:pt x="0" y="0"/>
                  </a:moveTo>
                  <a:lnTo>
                    <a:pt x="1214903" y="0"/>
                  </a:lnTo>
                  <a:lnTo>
                    <a:pt x="1214903" y="646800"/>
                  </a:lnTo>
                  <a:lnTo>
                    <a:pt x="0" y="646800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8100"/>
              <a:ext cx="1214903" cy="60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59262" y="7152697"/>
            <a:ext cx="4252577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399"/>
              </a:lnSpc>
              <a:spcBef>
                <a:spcPct val="0"/>
              </a:spcBef>
              <a:buAutoNum type="arabicPeriod"/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碳減排量</a:t>
            </a:r>
          </a:p>
          <a:p>
            <a:pPr marL="863599" lvl="1" indent="-431800" algn="ctr">
              <a:lnSpc>
                <a:spcPts val="5399"/>
              </a:lnSpc>
              <a:spcBef>
                <a:spcPct val="0"/>
              </a:spcBef>
              <a:buAutoNum type="arabicPeriod"/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參與度</a:t>
            </a:r>
          </a:p>
          <a:p>
            <a:pPr marL="863599" lvl="1" indent="-431800" algn="ctr">
              <a:lnSpc>
                <a:spcPts val="5399"/>
              </a:lnSpc>
              <a:spcBef>
                <a:spcPct val="0"/>
              </a:spcBef>
              <a:buAutoNum type="arabicPeriod"/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透明性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19995" y="6990772"/>
            <a:ext cx="4401222" cy="2455819"/>
            <a:chOff x="0" y="0"/>
            <a:chExt cx="1159169" cy="646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59169" cy="646800"/>
            </a:xfrm>
            <a:custGeom>
              <a:avLst/>
              <a:gdLst/>
              <a:ahLst/>
              <a:cxnLst/>
              <a:rect l="l" t="t" r="r" b="b"/>
              <a:pathLst>
                <a:path w="1159169" h="646800">
                  <a:moveTo>
                    <a:pt x="0" y="0"/>
                  </a:moveTo>
                  <a:lnTo>
                    <a:pt x="1159169" y="0"/>
                  </a:lnTo>
                  <a:lnTo>
                    <a:pt x="1159169" y="646800"/>
                  </a:lnTo>
                  <a:lnTo>
                    <a:pt x="0" y="646800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38100"/>
              <a:ext cx="1159169" cy="60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219995" y="7861494"/>
            <a:ext cx="4401222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提供企業報表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736659" y="6990772"/>
            <a:ext cx="4401222" cy="2455819"/>
            <a:chOff x="0" y="0"/>
            <a:chExt cx="1159169" cy="646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59169" cy="646800"/>
            </a:xfrm>
            <a:custGeom>
              <a:avLst/>
              <a:gdLst/>
              <a:ahLst/>
              <a:cxnLst/>
              <a:rect l="l" t="t" r="r" b="b"/>
              <a:pathLst>
                <a:path w="1159169" h="646800">
                  <a:moveTo>
                    <a:pt x="0" y="0"/>
                  </a:moveTo>
                  <a:lnTo>
                    <a:pt x="1159169" y="0"/>
                  </a:lnTo>
                  <a:lnTo>
                    <a:pt x="1159169" y="646800"/>
                  </a:lnTo>
                  <a:lnTo>
                    <a:pt x="0" y="646800"/>
                  </a:lnTo>
                  <a:close/>
                </a:path>
              </a:pathLst>
            </a:custGeom>
            <a:solidFill>
              <a:srgbClr val="D7ECE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1159169" cy="60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858078" y="7861494"/>
            <a:ext cx="4401222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 spc="239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rPr>
              <a:t>免自建系統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22</a:t>
            </a:r>
          </a:p>
        </p:txBody>
      </p:sp>
      <p:sp>
        <p:nvSpPr>
          <p:cNvPr id="43" name="Freeform 43"/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757" y="7859216"/>
            <a:ext cx="2595906" cy="2227760"/>
          </a:xfrm>
          <a:custGeom>
            <a:avLst/>
            <a:gdLst/>
            <a:ahLst/>
            <a:cxnLst/>
            <a:rect l="l" t="t" r="r" b="b"/>
            <a:pathLst>
              <a:path w="2595906" h="2227760">
                <a:moveTo>
                  <a:pt x="0" y="0"/>
                </a:moveTo>
                <a:lnTo>
                  <a:pt x="2595906" y="0"/>
                </a:lnTo>
                <a:lnTo>
                  <a:pt x="2595906" y="2227759"/>
                </a:lnTo>
                <a:lnTo>
                  <a:pt x="0" y="2227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32084" y="2098722"/>
            <a:ext cx="16423832" cy="3583277"/>
            <a:chOff x="0" y="0"/>
            <a:chExt cx="21898443" cy="4777703"/>
          </a:xfrm>
        </p:grpSpPr>
        <p:sp>
          <p:nvSpPr>
            <p:cNvPr id="4" name="TextBox 4"/>
            <p:cNvSpPr txBox="1"/>
            <p:nvPr/>
          </p:nvSpPr>
          <p:spPr>
            <a:xfrm>
              <a:off x="257643" y="-85725"/>
              <a:ext cx="21294402" cy="1292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99"/>
                </a:lnSpc>
                <a:spcBef>
                  <a:spcPct val="0"/>
                </a:spcBef>
              </a:pPr>
              <a:r>
                <a:rPr lang="en-US" sz="5999" b="1" spc="359" dirty="0">
                  <a:solidFill>
                    <a:srgbClr val="086A3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Q8：回收造成的效益是否能cover手續費？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703694"/>
              <a:ext cx="6883092" cy="3074009"/>
              <a:chOff x="0" y="0"/>
              <a:chExt cx="1691370" cy="7553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691370" cy="755371"/>
              </a:xfrm>
              <a:custGeom>
                <a:avLst/>
                <a:gdLst/>
                <a:ahLst/>
                <a:cxnLst/>
                <a:rect l="l" t="t" r="r" b="b"/>
                <a:pathLst>
                  <a:path w="1691370" h="755371">
                    <a:moveTo>
                      <a:pt x="0" y="0"/>
                    </a:moveTo>
                    <a:lnTo>
                      <a:pt x="1691370" y="0"/>
                    </a:lnTo>
                    <a:lnTo>
                      <a:pt x="1691370" y="755371"/>
                    </a:lnTo>
                    <a:lnTo>
                      <a:pt x="0" y="755371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38100"/>
                <a:ext cx="1691370" cy="717271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3364037"/>
              <a:ext cx="6883092" cy="768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3500" spc="210" dirty="0" err="1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點數與商品回饋</a:t>
              </a:r>
              <a:endParaRPr lang="en-US" sz="3500" spc="210" dirty="0">
                <a:solidFill>
                  <a:srgbClr val="086A35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1703694"/>
              <a:ext cx="6883092" cy="1356924"/>
              <a:chOff x="0" y="0"/>
              <a:chExt cx="1691370" cy="33343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691370" cy="333435"/>
              </a:xfrm>
              <a:custGeom>
                <a:avLst/>
                <a:gdLst/>
                <a:ahLst/>
                <a:cxnLst/>
                <a:rect l="l" t="t" r="r" b="b"/>
                <a:pathLst>
                  <a:path w="1691370" h="333435">
                    <a:moveTo>
                      <a:pt x="0" y="0"/>
                    </a:moveTo>
                    <a:lnTo>
                      <a:pt x="1691370" y="0"/>
                    </a:lnTo>
                    <a:lnTo>
                      <a:pt x="1691370" y="333435"/>
                    </a:lnTo>
                    <a:lnTo>
                      <a:pt x="0" y="333435"/>
                    </a:ln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38100"/>
                <a:ext cx="1691370" cy="295335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920243" y="1788431"/>
              <a:ext cx="5592077" cy="110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50"/>
                </a:lnSpc>
                <a:spcBef>
                  <a:spcPct val="0"/>
                </a:spcBef>
              </a:pPr>
              <a:r>
                <a:rPr lang="en-US" sz="5000" b="1" spc="30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用戶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510565" y="1703694"/>
              <a:ext cx="6973132" cy="3074009"/>
              <a:chOff x="0" y="0"/>
              <a:chExt cx="1713495" cy="75537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13495" cy="755371"/>
              </a:xfrm>
              <a:custGeom>
                <a:avLst/>
                <a:gdLst/>
                <a:ahLst/>
                <a:cxnLst/>
                <a:rect l="l" t="t" r="r" b="b"/>
                <a:pathLst>
                  <a:path w="1713495" h="755371">
                    <a:moveTo>
                      <a:pt x="0" y="0"/>
                    </a:moveTo>
                    <a:lnTo>
                      <a:pt x="1713495" y="0"/>
                    </a:lnTo>
                    <a:lnTo>
                      <a:pt x="1713495" y="755371"/>
                    </a:lnTo>
                    <a:lnTo>
                      <a:pt x="0" y="755371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38100"/>
                <a:ext cx="1713495" cy="717271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510565" y="3364037"/>
              <a:ext cx="6973132" cy="781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83"/>
                </a:lnSpc>
                <a:spcBef>
                  <a:spcPct val="0"/>
                </a:spcBef>
              </a:pPr>
              <a:r>
                <a:rPr lang="en-US" sz="3617" spc="217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低成本行銷＋ESG 數據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510565" y="1703694"/>
              <a:ext cx="6973132" cy="1356924"/>
              <a:chOff x="0" y="0"/>
              <a:chExt cx="1713495" cy="33343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713495" cy="333435"/>
              </a:xfrm>
              <a:custGeom>
                <a:avLst/>
                <a:gdLst/>
                <a:ahLst/>
                <a:cxnLst/>
                <a:rect l="l" t="t" r="r" b="b"/>
                <a:pathLst>
                  <a:path w="1713495" h="333435">
                    <a:moveTo>
                      <a:pt x="0" y="0"/>
                    </a:moveTo>
                    <a:lnTo>
                      <a:pt x="1713495" y="0"/>
                    </a:lnTo>
                    <a:lnTo>
                      <a:pt x="1713495" y="333435"/>
                    </a:lnTo>
                    <a:lnTo>
                      <a:pt x="0" y="333435"/>
                    </a:ln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38100"/>
                <a:ext cx="1713495" cy="295335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863951" y="1722562"/>
              <a:ext cx="6266360" cy="110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50"/>
                </a:lnSpc>
                <a:spcBef>
                  <a:spcPct val="0"/>
                </a:spcBef>
              </a:pPr>
              <a:r>
                <a:rPr lang="en-US" sz="5000" b="1" spc="30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商家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021131" y="1703694"/>
              <a:ext cx="6877312" cy="3074009"/>
              <a:chOff x="0" y="0"/>
              <a:chExt cx="1689950" cy="7553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689950" cy="755371"/>
              </a:xfrm>
              <a:custGeom>
                <a:avLst/>
                <a:gdLst/>
                <a:ahLst/>
                <a:cxnLst/>
                <a:rect l="l" t="t" r="r" b="b"/>
                <a:pathLst>
                  <a:path w="1689950" h="755371">
                    <a:moveTo>
                      <a:pt x="0" y="0"/>
                    </a:moveTo>
                    <a:lnTo>
                      <a:pt x="1689950" y="0"/>
                    </a:lnTo>
                    <a:lnTo>
                      <a:pt x="1689950" y="755371"/>
                    </a:lnTo>
                    <a:lnTo>
                      <a:pt x="0" y="755371"/>
                    </a:lnTo>
                    <a:close/>
                  </a:path>
                </a:pathLst>
              </a:custGeom>
              <a:solidFill>
                <a:srgbClr val="D7ECE1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38100"/>
                <a:ext cx="1689950" cy="717271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021131" y="3364037"/>
              <a:ext cx="6877312" cy="781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83"/>
                </a:lnSpc>
                <a:spcBef>
                  <a:spcPct val="0"/>
                </a:spcBef>
              </a:pPr>
              <a:r>
                <a:rPr lang="en-US" sz="3617" spc="217">
                  <a:solidFill>
                    <a:srgbClr val="086A35"/>
                  </a:solidFill>
                  <a:latin typeface="Gotham"/>
                  <a:ea typeface="Gotham"/>
                  <a:cs typeface="Gotham"/>
                  <a:sym typeface="Gotham"/>
                </a:rPr>
                <a:t>兼具環保與商業價值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5021131" y="1703694"/>
              <a:ext cx="6877312" cy="1356924"/>
              <a:chOff x="0" y="0"/>
              <a:chExt cx="1689950" cy="33343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689950" cy="333435"/>
              </a:xfrm>
              <a:custGeom>
                <a:avLst/>
                <a:gdLst/>
                <a:ahLst/>
                <a:cxnLst/>
                <a:rect l="l" t="t" r="r" b="b"/>
                <a:pathLst>
                  <a:path w="1689950" h="333435">
                    <a:moveTo>
                      <a:pt x="0" y="0"/>
                    </a:moveTo>
                    <a:lnTo>
                      <a:pt x="1689950" y="0"/>
                    </a:lnTo>
                    <a:lnTo>
                      <a:pt x="1689950" y="333435"/>
                    </a:lnTo>
                    <a:lnTo>
                      <a:pt x="0" y="333435"/>
                    </a:lnTo>
                    <a:close/>
                  </a:path>
                </a:pathLst>
              </a:custGeom>
              <a:solidFill>
                <a:srgbClr val="086A35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38100"/>
                <a:ext cx="1689950" cy="295335"/>
              </a:xfrm>
              <a:prstGeom prst="rect">
                <a:avLst/>
              </a:prstGeom>
            </p:spPr>
            <p:txBody>
              <a:bodyPr lIns="40836" tIns="40836" rIns="40836" bIns="40836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5369661" y="1722562"/>
              <a:ext cx="6180252" cy="110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50"/>
                </a:lnSpc>
                <a:spcBef>
                  <a:spcPct val="0"/>
                </a:spcBef>
              </a:pPr>
              <a:r>
                <a:rPr lang="en-US" sz="5000" b="1" spc="30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平台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23</a:t>
            </a:r>
          </a:p>
        </p:txBody>
      </p:sp>
      <p:sp>
        <p:nvSpPr>
          <p:cNvPr id="30" name="Freeform 30"/>
          <p:cNvSpPr/>
          <p:nvPr/>
        </p:nvSpPr>
        <p:spPr>
          <a:xfrm>
            <a:off x="8281456" y="9258300"/>
            <a:ext cx="4591619" cy="3780101"/>
          </a:xfrm>
          <a:custGeom>
            <a:avLst/>
            <a:gdLst/>
            <a:ahLst/>
            <a:cxnLst/>
            <a:rect l="l" t="t" r="r" b="b"/>
            <a:pathLst>
              <a:path w="4591619" h="3780101">
                <a:moveTo>
                  <a:pt x="0" y="0"/>
                </a:moveTo>
                <a:lnTo>
                  <a:pt x="4591618" y="0"/>
                </a:lnTo>
                <a:lnTo>
                  <a:pt x="4591618" y="3780101"/>
                </a:lnTo>
                <a:lnTo>
                  <a:pt x="0" y="3780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Freeform 31"/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BD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138781"/>
            <a:ext cx="2386909" cy="2148219"/>
          </a:xfrm>
          <a:custGeom>
            <a:avLst/>
            <a:gdLst/>
            <a:ahLst/>
            <a:cxnLst/>
            <a:rect l="l" t="t" r="r" b="b"/>
            <a:pathLst>
              <a:path w="2386909" h="2148219">
                <a:moveTo>
                  <a:pt x="0" y="0"/>
                </a:moveTo>
                <a:lnTo>
                  <a:pt x="2386909" y="0"/>
                </a:lnTo>
                <a:lnTo>
                  <a:pt x="2386909" y="2148219"/>
                </a:lnTo>
                <a:lnTo>
                  <a:pt x="0" y="2148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507376" y="3684882"/>
            <a:ext cx="11273248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0"/>
              </a:lnSpc>
            </a:pPr>
            <a:r>
              <a:rPr lang="en-US" sz="15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06 系統展示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0C6B4-A8EB-A005-65FF-A50CD864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>
            <a:extLst>
              <a:ext uri="{FF2B5EF4-FFF2-40B4-BE49-F238E27FC236}">
                <a16:creationId xmlns:a16="http://schemas.microsoft.com/office/drawing/2014/main" id="{5E9C8594-C1B1-6F45-1777-F47A476F45FD}"/>
              </a:ext>
            </a:extLst>
          </p:cNvPr>
          <p:cNvSpPr txBox="1"/>
          <p:nvPr/>
        </p:nvSpPr>
        <p:spPr>
          <a:xfrm>
            <a:off x="17137895" y="9172575"/>
            <a:ext cx="11501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499" spc="329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  <a:r>
              <a:rPr lang="en-US" altLang="zh-TW" sz="5499" spc="329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  <a:endParaRPr lang="en-US" sz="5499" spc="329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E82926F5-3B65-E3D6-662D-75A41CBE7183}"/>
              </a:ext>
            </a:extLst>
          </p:cNvPr>
          <p:cNvSpPr/>
          <p:nvPr/>
        </p:nvSpPr>
        <p:spPr>
          <a:xfrm>
            <a:off x="-304800" y="9629775"/>
            <a:ext cx="4591619" cy="3780101"/>
          </a:xfrm>
          <a:custGeom>
            <a:avLst/>
            <a:gdLst/>
            <a:ahLst/>
            <a:cxnLst/>
            <a:rect l="l" t="t" r="r" b="b"/>
            <a:pathLst>
              <a:path w="4591619" h="3780101">
                <a:moveTo>
                  <a:pt x="0" y="0"/>
                </a:moveTo>
                <a:lnTo>
                  <a:pt x="4591618" y="0"/>
                </a:lnTo>
                <a:lnTo>
                  <a:pt x="4591618" y="3780101"/>
                </a:lnTo>
                <a:lnTo>
                  <a:pt x="0" y="3780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071D439-9FFE-E3D3-4BAD-E25F7B0D9AAF}"/>
              </a:ext>
            </a:extLst>
          </p:cNvPr>
          <p:cNvSpPr/>
          <p:nvPr/>
        </p:nvSpPr>
        <p:spPr>
          <a:xfrm>
            <a:off x="14630036" y="-2847238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71890A7-899D-660B-3CB9-3A4FF2375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5789" y="1598531"/>
            <a:ext cx="14630400" cy="7747259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1695D479-0926-6A53-757A-955458869F14}"/>
              </a:ext>
            </a:extLst>
          </p:cNvPr>
          <p:cNvSpPr txBox="1"/>
          <p:nvPr/>
        </p:nvSpPr>
        <p:spPr>
          <a:xfrm>
            <a:off x="381000" y="258488"/>
            <a:ext cx="10134600" cy="1056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99"/>
              </a:lnSpc>
              <a:spcBef>
                <a:spcPct val="0"/>
              </a:spcBef>
            </a:pPr>
            <a:r>
              <a:rPr lang="en-US" altLang="zh-TW" sz="6000" b="1" spc="359" dirty="0" err="1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Github</a:t>
            </a:r>
            <a:r>
              <a:rPr lang="en-US" altLang="zh-TW" sz="6000" b="1" spc="359" dirty="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zh-TW" altLang="en-US" sz="6000" b="1" spc="359" dirty="0">
                <a:solidFill>
                  <a:srgbClr val="086A35"/>
                </a:solidFill>
                <a:latin typeface="Gotham Bold"/>
                <a:ea typeface="Gotham Bold"/>
                <a:cs typeface="Gotham Bold"/>
                <a:sym typeface="Gotham Bold"/>
              </a:rPr>
              <a:t>上傳紀錄</a:t>
            </a:r>
            <a:endParaRPr lang="en-US" altLang="zh-TW" sz="6000" b="1" spc="359" dirty="0">
              <a:solidFill>
                <a:srgbClr val="086A35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2931039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507" y="-1028700"/>
            <a:ext cx="4212307" cy="4114800"/>
          </a:xfrm>
          <a:custGeom>
            <a:avLst/>
            <a:gdLst/>
            <a:ahLst/>
            <a:cxnLst/>
            <a:rect l="l" t="t" r="r" b="b"/>
            <a:pathLst>
              <a:path w="4212307" h="4114800">
                <a:moveTo>
                  <a:pt x="0" y="0"/>
                </a:moveTo>
                <a:lnTo>
                  <a:pt x="4212308" y="0"/>
                </a:lnTo>
                <a:lnTo>
                  <a:pt x="4212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-2925875" y="5381373"/>
            <a:ext cx="4158368" cy="4114800"/>
          </a:xfrm>
          <a:custGeom>
            <a:avLst/>
            <a:gdLst/>
            <a:ahLst/>
            <a:cxnLst/>
            <a:rect l="l" t="t" r="r" b="b"/>
            <a:pathLst>
              <a:path w="4158368" h="4114800">
                <a:moveTo>
                  <a:pt x="0" y="0"/>
                </a:moveTo>
                <a:lnTo>
                  <a:pt x="4158369" y="0"/>
                </a:lnTo>
                <a:lnTo>
                  <a:pt x="4158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5238192" y="9119889"/>
            <a:ext cx="4364103" cy="3859521"/>
          </a:xfrm>
          <a:custGeom>
            <a:avLst/>
            <a:gdLst/>
            <a:ahLst/>
            <a:cxnLst/>
            <a:rect l="l" t="t" r="r" b="b"/>
            <a:pathLst>
              <a:path w="4364103" h="3859521">
                <a:moveTo>
                  <a:pt x="0" y="0"/>
                </a:moveTo>
                <a:lnTo>
                  <a:pt x="4364103" y="0"/>
                </a:lnTo>
                <a:lnTo>
                  <a:pt x="4364103" y="3859521"/>
                </a:lnTo>
                <a:lnTo>
                  <a:pt x="0" y="385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17586242" y="4034284"/>
            <a:ext cx="4182441" cy="4114800"/>
          </a:xfrm>
          <a:custGeom>
            <a:avLst/>
            <a:gdLst/>
            <a:ahLst/>
            <a:cxnLst/>
            <a:rect l="l" t="t" r="r" b="b"/>
            <a:pathLst>
              <a:path w="4182441" h="4114800">
                <a:moveTo>
                  <a:pt x="0" y="0"/>
                </a:moveTo>
                <a:lnTo>
                  <a:pt x="4182440" y="0"/>
                </a:lnTo>
                <a:lnTo>
                  <a:pt x="41824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0815125" y="9337720"/>
            <a:ext cx="4519963" cy="3721110"/>
          </a:xfrm>
          <a:custGeom>
            <a:avLst/>
            <a:gdLst/>
            <a:ahLst/>
            <a:cxnLst/>
            <a:rect l="l" t="t" r="r" b="b"/>
            <a:pathLst>
              <a:path w="4519963" h="3721110">
                <a:moveTo>
                  <a:pt x="0" y="0"/>
                </a:moveTo>
                <a:lnTo>
                  <a:pt x="4519963" y="0"/>
                </a:lnTo>
                <a:lnTo>
                  <a:pt x="4519963" y="3721110"/>
                </a:lnTo>
                <a:lnTo>
                  <a:pt x="0" y="3721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-3588347" y="-789838"/>
            <a:ext cx="4998171" cy="4114800"/>
          </a:xfrm>
          <a:custGeom>
            <a:avLst/>
            <a:gdLst/>
            <a:ahLst/>
            <a:cxnLst/>
            <a:rect l="l" t="t" r="r" b="b"/>
            <a:pathLst>
              <a:path w="4998171" h="4114800">
                <a:moveTo>
                  <a:pt x="0" y="0"/>
                </a:moveTo>
                <a:lnTo>
                  <a:pt x="4998171" y="0"/>
                </a:lnTo>
                <a:lnTo>
                  <a:pt x="4998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 rot="-5400000">
            <a:off x="6452118" y="-3334307"/>
            <a:ext cx="4398575" cy="4327439"/>
          </a:xfrm>
          <a:custGeom>
            <a:avLst/>
            <a:gdLst/>
            <a:ahLst/>
            <a:cxnLst/>
            <a:rect l="l" t="t" r="r" b="b"/>
            <a:pathLst>
              <a:path w="4398575" h="4327439">
                <a:moveTo>
                  <a:pt x="0" y="0"/>
                </a:moveTo>
                <a:lnTo>
                  <a:pt x="4398575" y="0"/>
                </a:lnTo>
                <a:lnTo>
                  <a:pt x="4398575" y="4327439"/>
                </a:lnTo>
                <a:lnTo>
                  <a:pt x="0" y="4327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1000541" y="-3086100"/>
            <a:ext cx="5097501" cy="4114800"/>
          </a:xfrm>
          <a:custGeom>
            <a:avLst/>
            <a:gdLst/>
            <a:ahLst/>
            <a:cxnLst/>
            <a:rect l="l" t="t" r="r" b="b"/>
            <a:pathLst>
              <a:path w="5097501" h="4114800">
                <a:moveTo>
                  <a:pt x="0" y="0"/>
                </a:moveTo>
                <a:lnTo>
                  <a:pt x="5097501" y="0"/>
                </a:lnTo>
                <a:lnTo>
                  <a:pt x="50975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2504357" y="-2942973"/>
            <a:ext cx="3255836" cy="4114800"/>
          </a:xfrm>
          <a:custGeom>
            <a:avLst/>
            <a:gdLst/>
            <a:ahLst/>
            <a:cxnLst/>
            <a:rect l="l" t="t" r="r" b="b"/>
            <a:pathLst>
              <a:path w="3255836" h="4114800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685497" y="8864610"/>
            <a:ext cx="4264041" cy="4114800"/>
          </a:xfrm>
          <a:custGeom>
            <a:avLst/>
            <a:gdLst/>
            <a:ahLst/>
            <a:cxnLst/>
            <a:rect l="l" t="t" r="r" b="b"/>
            <a:pathLst>
              <a:path w="4264041" h="4114800">
                <a:moveTo>
                  <a:pt x="0" y="0"/>
                </a:moveTo>
                <a:lnTo>
                  <a:pt x="4264041" y="0"/>
                </a:lnTo>
                <a:lnTo>
                  <a:pt x="4264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15977401" y="8400021"/>
            <a:ext cx="3945537" cy="5596506"/>
          </a:xfrm>
          <a:custGeom>
            <a:avLst/>
            <a:gdLst/>
            <a:ahLst/>
            <a:cxnLst/>
            <a:rect l="l" t="t" r="r" b="b"/>
            <a:pathLst>
              <a:path w="3945537" h="5596506">
                <a:moveTo>
                  <a:pt x="0" y="0"/>
                </a:moveTo>
                <a:lnTo>
                  <a:pt x="3945537" y="0"/>
                </a:lnTo>
                <a:lnTo>
                  <a:pt x="3945537" y="5596507"/>
                </a:lnTo>
                <a:lnTo>
                  <a:pt x="0" y="55965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2314147" y="2703039"/>
            <a:ext cx="4734872" cy="4960342"/>
          </a:xfrm>
          <a:custGeom>
            <a:avLst/>
            <a:gdLst/>
            <a:ahLst/>
            <a:cxnLst/>
            <a:rect l="l" t="t" r="r" b="b"/>
            <a:pathLst>
              <a:path w="4734872" h="4960342">
                <a:moveTo>
                  <a:pt x="0" y="0"/>
                </a:moveTo>
                <a:lnTo>
                  <a:pt x="4734872" y="0"/>
                </a:lnTo>
                <a:lnTo>
                  <a:pt x="4734872" y="4960342"/>
                </a:lnTo>
                <a:lnTo>
                  <a:pt x="0" y="496034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809983" y="4594823"/>
            <a:ext cx="9926675" cy="1696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29"/>
              </a:lnSpc>
            </a:pPr>
            <a:r>
              <a:rPr lang="en-US" sz="11971" b="1" spc="-419">
                <a:solidFill>
                  <a:srgbClr val="086A35"/>
                </a:solidFill>
                <a:latin typeface="Gotham Heavy"/>
                <a:ea typeface="Gotham Heavy"/>
                <a:cs typeface="Gotham Heavy"/>
                <a:sym typeface="Gotham Heav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290</Words>
  <Application>Microsoft Office PowerPoint</Application>
  <PresentationFormat>自訂</PresentationFormat>
  <Paragraphs>131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Montserrat</vt:lpstr>
      <vt:lpstr>Gotham Bold</vt:lpstr>
      <vt:lpstr>Montserrat Bold</vt:lpstr>
      <vt:lpstr>Calibri</vt:lpstr>
      <vt:lpstr>Gotham Heavy</vt:lpstr>
      <vt:lpstr>Arial</vt:lpstr>
      <vt:lpstr>Gotham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環保回收集點系統</dc:title>
  <dc:creator>USER</dc:creator>
  <cp:lastModifiedBy>wei eva</cp:lastModifiedBy>
  <cp:revision>12</cp:revision>
  <dcterms:created xsi:type="dcterms:W3CDTF">2006-08-16T00:00:00Z</dcterms:created>
  <dcterms:modified xsi:type="dcterms:W3CDTF">2025-10-15T02:59:06Z</dcterms:modified>
  <dc:identifier>DAG0ipLg25g</dc:identifier>
</cp:coreProperties>
</file>